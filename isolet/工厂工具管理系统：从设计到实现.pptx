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  <p:embeddedFontLst>
    <p:embeddedFont>
      <p:font typeface="MiSans" pitchFamily="34" charset="-122"/>
      <p:regular r:id="rId26"/>
    </p:embeddedFont>
    <p:embeddedFont>
      <p:font typeface="MiSans" pitchFamily="34" charset="-120"/>
      <p:regular r:id="rId27"/>
    </p:embeddedFont>
    <p:embeddedFont>
      <p:font typeface="Calibri" panose="020F0502020204030204" charset="0"/>
      <p:regular r:id="rId28"/>
      <p:bold r:id="rId29"/>
      <p:italic r:id="rId30"/>
      <p:boldItalic r:id="rId3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font" Target="fonts/font6.fntdata"/><Relationship Id="rId30" Type="http://schemas.openxmlformats.org/officeDocument/2006/relationships/font" Target="fonts/font5.fntdata"/><Relationship Id="rId3" Type="http://schemas.openxmlformats.org/officeDocument/2006/relationships/slide" Target="slides/slide1.xml"/><Relationship Id="rId29" Type="http://schemas.openxmlformats.org/officeDocument/2006/relationships/font" Target="fonts/font4.fntdata"/><Relationship Id="rId28" Type="http://schemas.openxmlformats.org/officeDocument/2006/relationships/font" Target="fonts/font3.fntdata"/><Relationship Id="rId27" Type="http://schemas.openxmlformats.org/officeDocument/2006/relationships/font" Target="fonts/font2.fntdata"/><Relationship Id="rId26" Type="http://schemas.openxmlformats.org/officeDocument/2006/relationships/font" Target="fonts/font1.fntdata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jpe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1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2:04:53-d2t62pe1bb2p4onbqpo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845" y="0"/>
            <a:ext cx="12310745" cy="690181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9755" y="1872615"/>
            <a:ext cx="8800465" cy="93091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工厂工具管理系统：从设计到实现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9208135" y="5678805"/>
            <a:ext cx="2215515" cy="33718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395335" y="6047105"/>
            <a:ext cx="3028315" cy="3710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8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汇报时间：2025/08/05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2:04:51-d2t62ou1bb2p4onbqpi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335" y="0"/>
            <a:ext cx="12240895" cy="688594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09-05-12:04:52-d2t62p61bb2p4onbqpj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560" y="4109720"/>
            <a:ext cx="6602095" cy="182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86730" y="2028825"/>
            <a:ext cx="1036955" cy="5365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目录</a:t>
            </a:r>
            <a:endParaRPr lang="en-US" sz="1600" dirty="0"/>
          </a:p>
        </p:txBody>
      </p:sp>
      <p:pic>
        <p:nvPicPr>
          <p:cNvPr id="5" name="Image 2" descr="https://kimi-img.moonshot.cn/pub/slides/slides_tmpl/image/25-09-05-12:04:51-d2t62ou1bb2p4onbqp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0355" y="913130"/>
            <a:ext cx="6510655" cy="1115695"/>
          </a:xfrm>
          <a:prstGeom prst="rect">
            <a:avLst/>
          </a:prstGeom>
        </p:spPr>
      </p:pic>
      <p:pic>
        <p:nvPicPr>
          <p:cNvPr id="6" name="Image 3" descr="https://kimi-img.moonshot.cn/pub/slides/slides_tmpl/image/25-09-05-12:04:51-d2t62ou1bb2p4onbqpg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2735" y="4041775"/>
            <a:ext cx="701040" cy="682625"/>
          </a:xfrm>
          <a:prstGeom prst="rect">
            <a:avLst/>
          </a:prstGeom>
        </p:spPr>
      </p:pic>
      <p:pic>
        <p:nvPicPr>
          <p:cNvPr id="7" name="Image 4" descr="https://kimi-img.moonshot.cn/pub/slides/slides_tmpl/image/25-09-05-12:04:51-d2t62ou1bb2p4onbqpf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9560" y="5172075"/>
            <a:ext cx="701040" cy="682625"/>
          </a:xfrm>
          <a:prstGeom prst="rect">
            <a:avLst/>
          </a:prstGeom>
        </p:spPr>
      </p:pic>
      <p:pic>
        <p:nvPicPr>
          <p:cNvPr id="8" name="Image 5" descr="https://kimi-img.moonshot.cn/pub/slides/slides_tmpl/image/25-09-05-12:04:51-d2t62ou1bb2p4onbqph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0215" y="4055745"/>
            <a:ext cx="701040" cy="682625"/>
          </a:xfrm>
          <a:prstGeom prst="rect">
            <a:avLst/>
          </a:prstGeom>
        </p:spPr>
      </p:pic>
      <p:pic>
        <p:nvPicPr>
          <p:cNvPr id="9" name="Image 6" descr="https://kimi-img.moonshot.cn/pub/slides/slides_tmpl/image/25-09-05-12:04:52-d2t62p61bb2p4onbqpj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0215" y="5172075"/>
            <a:ext cx="701040" cy="682625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3530600" y="4199890"/>
            <a:ext cx="2153920" cy="65976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任务解析</a:t>
            </a:r>
            <a:endParaRPr lang="en-US" sz="1600" dirty="0"/>
          </a:p>
        </p:txBody>
      </p:sp>
      <p:sp>
        <p:nvSpPr>
          <p:cNvPr id="11" name="Text 2"/>
          <p:cNvSpPr/>
          <p:nvPr/>
        </p:nvSpPr>
        <p:spPr>
          <a:xfrm>
            <a:off x="3530600" y="5318760"/>
            <a:ext cx="2153920" cy="65976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功能设计</a:t>
            </a:r>
            <a:endParaRPr lang="en-US" sz="1600" dirty="0"/>
          </a:p>
        </p:txBody>
      </p:sp>
      <p:sp>
        <p:nvSpPr>
          <p:cNvPr id="12" name="Text 3"/>
          <p:cNvSpPr/>
          <p:nvPr/>
        </p:nvSpPr>
        <p:spPr>
          <a:xfrm>
            <a:off x="7501255" y="4199890"/>
            <a:ext cx="2059305" cy="65976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难点与创新点</a:t>
            </a:r>
            <a:endParaRPr lang="en-US" sz="1600" dirty="0"/>
          </a:p>
        </p:txBody>
      </p:sp>
      <p:sp>
        <p:nvSpPr>
          <p:cNvPr id="13" name="Text 4"/>
          <p:cNvSpPr/>
          <p:nvPr/>
        </p:nvSpPr>
        <p:spPr>
          <a:xfrm>
            <a:off x="7501255" y="5318760"/>
            <a:ext cx="2059305" cy="65976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心得体会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6510"/>
            <a:ext cx="12195810" cy="6880860"/>
          </a:xfrm>
          <a:prstGeom prst="rect">
            <a:avLst/>
          </a:prstGeom>
          <a:gradFill flip="none" rotWithShape="1">
            <a:gsLst>
              <a:gs pos="0">
                <a:srgbClr val="F6F8FD"/>
              </a:gs>
              <a:gs pos="100000">
                <a:srgbClr val="BEBEBE"/>
              </a:gs>
            </a:gsLst>
            <a:lin ang="5400000" scaled="1"/>
          </a:gradFill>
        </p:spPr>
      </p:sp>
      <p:sp>
        <p:nvSpPr>
          <p:cNvPr id="3" name="Shape 1"/>
          <p:cNvSpPr/>
          <p:nvPr/>
        </p:nvSpPr>
        <p:spPr>
          <a:xfrm>
            <a:off x="5438775" y="-23495"/>
            <a:ext cx="6750685" cy="688149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4" name="Text 2"/>
          <p:cNvSpPr/>
          <p:nvPr/>
        </p:nvSpPr>
        <p:spPr>
          <a:xfrm>
            <a:off x="6524625" y="4012565"/>
            <a:ext cx="4441825" cy="13817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ctr">
              <a:lnSpc>
                <a:spcPct val="120000"/>
              </a:lnSpc>
            </a:pPr>
            <a:r>
              <a:rPr lang="en-US" sz="32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任务解析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72070" y="1823085"/>
            <a:ext cx="1874520" cy="13309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9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01</a:t>
            </a:r>
            <a:endParaRPr lang="en-US" sz="1600" dirty="0"/>
          </a:p>
        </p:txBody>
      </p:sp>
      <p:pic>
        <p:nvPicPr>
          <p:cNvPr id="6" name="Image 0" descr="https://kimi-img.moonshot.cn/pub/slides/slides_tmpl/image/25-09-05-12:04:52-d2t62p61bb2p4onbqpl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590" y="2077085"/>
            <a:ext cx="920750" cy="335280"/>
          </a:xfrm>
          <a:prstGeom prst="rect">
            <a:avLst/>
          </a:prstGeom>
        </p:spPr>
      </p:pic>
      <p:pic>
        <p:nvPicPr>
          <p:cNvPr id="7" name="Image 1" descr="https://kimi-img.moonshot.cn/pub/slides/slides_tmpl/image/25-09-05-12:04:52-d2t62p61bb2p4onbqpmg.png"/>
          <p:cNvPicPr>
            <a:picLocks noChangeAspect="1"/>
          </p:cNvPicPr>
          <p:nvPr/>
        </p:nvPicPr>
        <p:blipFill>
          <a:blip r:embed="rId2"/>
          <a:srcRect l="20534"/>
          <a:stretch>
            <a:fillRect/>
          </a:stretch>
        </p:blipFill>
        <p:spPr>
          <a:xfrm>
            <a:off x="1087120" y="-23495"/>
            <a:ext cx="3194685" cy="6858000"/>
          </a:xfrm>
          <a:prstGeom prst="rect">
            <a:avLst/>
          </a:prstGeom>
        </p:spPr>
      </p:pic>
      <p:pic>
        <p:nvPicPr>
          <p:cNvPr id="8" name="Image 2" descr="https://kimi-img.moonshot.cn/pub/slides/slides_tmpl/image/25-09-05-12:04:52-d2t62p61bb2p4onbq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7370" y="2077085"/>
            <a:ext cx="2712720" cy="267017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335" y="0"/>
            <a:ext cx="12205335" cy="178435"/>
          </a:xfrm>
          <a:prstGeom prst="rect">
            <a:avLst/>
          </a:prstGeom>
          <a:solidFill>
            <a:srgbClr val="101010"/>
          </a:solidFill>
        </p:spPr>
      </p:sp>
      <p:sp>
        <p:nvSpPr>
          <p:cNvPr id="3" name="Shape 1"/>
          <p:cNvSpPr/>
          <p:nvPr/>
        </p:nvSpPr>
        <p:spPr>
          <a:xfrm>
            <a:off x="0" y="408940"/>
            <a:ext cx="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403225" y="2181860"/>
            <a:ext cx="7212965" cy="4517390"/>
          </a:xfrm>
          <a:prstGeom prst="rect">
            <a:avLst/>
          </a:prstGeom>
          <a:solidFill>
            <a:srgbClr val="101010"/>
          </a:solidFill>
        </p:spPr>
      </p:sp>
      <p:sp>
        <p:nvSpPr>
          <p:cNvPr id="5" name="Text 3"/>
          <p:cNvSpPr/>
          <p:nvPr/>
        </p:nvSpPr>
        <p:spPr>
          <a:xfrm>
            <a:off x="859155" y="963930"/>
            <a:ext cx="4698365" cy="89852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项目背景与目标定位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7670" y="1819275"/>
            <a:ext cx="7206615" cy="370840"/>
          </a:xfrm>
          <a:prstGeom prst="rect">
            <a:avLst/>
          </a:prstGeom>
          <a:gradFill flip="none" rotWithShape="1">
            <a:gsLst>
              <a:gs pos="0">
                <a:srgbClr val="B3C4BE"/>
              </a:gs>
              <a:gs pos="100000">
                <a:srgbClr val="FFFFFF"/>
              </a:gs>
            </a:gsLst>
            <a:lin ang="3600000" scaled="1"/>
          </a:gradFill>
        </p:spPr>
      </p:sp>
      <p:sp>
        <p:nvSpPr>
          <p:cNvPr id="7" name="Shape 5"/>
          <p:cNvSpPr/>
          <p:nvPr/>
        </p:nvSpPr>
        <p:spPr>
          <a:xfrm flipV="1">
            <a:off x="-5715" y="748030"/>
            <a:ext cx="7619365" cy="381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403225" y="759460"/>
            <a:ext cx="0" cy="611251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 flipV="1">
            <a:off x="406400" y="6701155"/>
            <a:ext cx="7207250" cy="3175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7616190" y="752475"/>
            <a:ext cx="0" cy="6119495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pic>
        <p:nvPicPr>
          <p:cNvPr id="11" name="Image 0" descr="https://kimi-img.moonshot.cn/pub/slides/slides_tmpl/image/25-09-05-12:04:56-d2t62q61bb2p4onbqq30.png"/>
          <p:cNvPicPr>
            <a:picLocks noChangeAspect="1"/>
          </p:cNvPicPr>
          <p:nvPr/>
        </p:nvPicPr>
        <p:blipFill>
          <a:blip r:embed="rId1"/>
          <a:srcRect b="14569"/>
          <a:stretch>
            <a:fillRect/>
          </a:stretch>
        </p:blipFill>
        <p:spPr>
          <a:xfrm>
            <a:off x="7607300" y="740410"/>
            <a:ext cx="4584065" cy="4676775"/>
          </a:xfrm>
          <a:prstGeom prst="rect">
            <a:avLst/>
          </a:prstGeom>
        </p:spPr>
      </p:pic>
      <p:pic>
        <p:nvPicPr>
          <p:cNvPr id="12" name="Image 1" descr="https://kimi-img.moonshot.cn/pub/slides/slides_tmpl/image/25-09-05-12:04:51-d2t62ou1bb2p4onbqp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25" y="2647950"/>
            <a:ext cx="555625" cy="541020"/>
          </a:xfrm>
          <a:prstGeom prst="rect">
            <a:avLst/>
          </a:prstGeom>
        </p:spPr>
      </p:pic>
      <p:pic>
        <p:nvPicPr>
          <p:cNvPr id="13" name="Image 2" descr="https://kimi-img.moonshot.cn/pub/slides/slides_tmpl/image/25-09-05-12:04:51-d2t62ou1bb2p4onbqp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4658360"/>
            <a:ext cx="555625" cy="5410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07465" y="2669540"/>
            <a:ext cx="235839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传统管理痛点分析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316990" y="3259455"/>
            <a:ext cx="5767705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工厂工具管理长期依赖人工纸质登记，存在查询效率低、库存数据滞后、借还记录易丢失等问题，难以满足现代化生产管理需求。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307465" y="4671060"/>
            <a:ext cx="235839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系统建设核心目标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307465" y="5255895"/>
            <a:ext cx="5767705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运用C语言开发控制台工具管理系统，实现工具信息数字化、借还流程规范化、库存统计自动化，提升管理效率并降低人工错误率。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160" y="-23495"/>
            <a:ext cx="12195810" cy="6880860"/>
          </a:xfrm>
          <a:prstGeom prst="rect">
            <a:avLst/>
          </a:prstGeom>
          <a:solidFill>
            <a:srgbClr val="000000"/>
          </a:solidFill>
        </p:spPr>
      </p:sp>
      <p:pic>
        <p:nvPicPr>
          <p:cNvPr id="3" name="Image 0" descr="https://kimi-img.moonshot.cn/pub/slides/slides_tmpl/image/25-09-05-12:04:57-d2t62qe1bb2p4onbqqe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7305"/>
            <a:ext cx="12192000" cy="688467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5715" y="-13970"/>
            <a:ext cx="8060055" cy="2070735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0280" y="749300"/>
            <a:ext cx="6490970" cy="89852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需求分析与功能边界界定</a:t>
            </a:r>
            <a:endParaRPr lang="en-US" sz="1600" dirty="0"/>
          </a:p>
        </p:txBody>
      </p:sp>
      <p:pic>
        <p:nvPicPr>
          <p:cNvPr id="6" name="Image 1" descr="https://kimi-img.moonshot.cn/pub/slides/slides_tmpl/image/25-09-05-12:04:57-d2t62qe1bb2p4onbqqa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695" y="-43180"/>
            <a:ext cx="4218305" cy="2127885"/>
          </a:xfrm>
          <a:prstGeom prst="rect">
            <a:avLst/>
          </a:prstGeom>
        </p:spPr>
      </p:pic>
      <p:pic>
        <p:nvPicPr>
          <p:cNvPr id="7" name="Image 2" descr="https://kimi-img.moonshot.cn/pub/slides/slides_tmpl/image/25-09-05-12:04:57-d2t62qe1bb2p4onbqq9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190" y="2460625"/>
            <a:ext cx="2109470" cy="1456690"/>
          </a:xfrm>
          <a:prstGeom prst="rect">
            <a:avLst/>
          </a:prstGeom>
        </p:spPr>
      </p:pic>
      <p:pic>
        <p:nvPicPr>
          <p:cNvPr id="8" name="Image 3" descr="https://kimi-img.moonshot.cn/pub/slides/slides_tmpl/image/25-09-05-12:04:57-d2t62qe1bb2p4onbqq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190" y="2460625"/>
            <a:ext cx="2109470" cy="1456690"/>
          </a:xfrm>
          <a:prstGeom prst="rect">
            <a:avLst/>
          </a:prstGeom>
        </p:spPr>
      </p:pic>
      <p:pic>
        <p:nvPicPr>
          <p:cNvPr id="9" name="Image 4" descr="https://kimi-img.moonshot.cn/pub/slides/slides_tmpl/image/25-09-05-12:04:57-d2t62qe1bb2p4onbqq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6495" y="2460625"/>
            <a:ext cx="2109470" cy="1456690"/>
          </a:xfrm>
          <a:prstGeom prst="rect">
            <a:avLst/>
          </a:prstGeom>
        </p:spPr>
      </p:pic>
      <p:sp>
        <p:nvSpPr>
          <p:cNvPr id="10" name="Shape 3"/>
          <p:cNvSpPr/>
          <p:nvPr/>
        </p:nvSpPr>
        <p:spPr>
          <a:xfrm>
            <a:off x="970280" y="4196080"/>
            <a:ext cx="2807970" cy="0"/>
          </a:xfrm>
          <a:prstGeom prst="line">
            <a:avLst/>
          </a:prstGeom>
          <a:noFill/>
          <a:ln w="3175">
            <a:gradFill flip="none" rotWithShape="1">
              <a:gsLst>
                <a:gs pos="0">
                  <a:srgbClr val="000000"/>
                </a:gs>
                <a:gs pos="53000">
                  <a:srgbClr val="595959"/>
                </a:gs>
                <a:gs pos="100000">
                  <a:srgbClr val="000000"/>
                </a:gs>
              </a:gsLst>
              <a:lin ang="10800000" scaled="1"/>
            </a:gradFill>
            <a:prstDash val="solid"/>
            <a:headEnd type="none"/>
            <a:tailEnd type="none"/>
          </a:ln>
        </p:spPr>
      </p:sp>
      <p:sp>
        <p:nvSpPr>
          <p:cNvPr id="11" name="Shape 4"/>
          <p:cNvSpPr/>
          <p:nvPr/>
        </p:nvSpPr>
        <p:spPr>
          <a:xfrm>
            <a:off x="4674235" y="4196080"/>
            <a:ext cx="2923540" cy="0"/>
          </a:xfrm>
          <a:prstGeom prst="line">
            <a:avLst/>
          </a:prstGeom>
          <a:noFill/>
          <a:ln w="3175">
            <a:gradFill flip="none" rotWithShape="1">
              <a:gsLst>
                <a:gs pos="0">
                  <a:srgbClr val="000000"/>
                </a:gs>
                <a:gs pos="53000">
                  <a:srgbClr val="595959"/>
                </a:gs>
                <a:gs pos="100000">
                  <a:srgbClr val="000000"/>
                </a:gs>
              </a:gsLst>
              <a:lin ang="10800000" scaled="1"/>
            </a:gradFill>
            <a:prstDash val="solid"/>
            <a:headEnd type="none"/>
            <a:tailEnd type="none"/>
          </a:ln>
        </p:spPr>
      </p:sp>
      <p:sp>
        <p:nvSpPr>
          <p:cNvPr id="12" name="Shape 5"/>
          <p:cNvSpPr/>
          <p:nvPr/>
        </p:nvSpPr>
        <p:spPr>
          <a:xfrm>
            <a:off x="8276590" y="4196080"/>
            <a:ext cx="2912110" cy="0"/>
          </a:xfrm>
          <a:prstGeom prst="line">
            <a:avLst/>
          </a:prstGeom>
          <a:noFill/>
          <a:ln w="3175">
            <a:gradFill flip="none" rotWithShape="1">
              <a:gsLst>
                <a:gs pos="0">
                  <a:srgbClr val="000000"/>
                </a:gs>
                <a:gs pos="53000">
                  <a:srgbClr val="595959"/>
                </a:gs>
                <a:gs pos="100000">
                  <a:srgbClr val="000000"/>
                </a:gs>
              </a:gsLst>
              <a:lin ang="10800000" scaled="1"/>
            </a:gradFill>
            <a:prstDash val="solid"/>
            <a:headEnd type="none"/>
            <a:tailEnd type="none"/>
          </a:ln>
        </p:spPr>
      </p:sp>
      <p:sp>
        <p:nvSpPr>
          <p:cNvPr id="13" name="Text 6"/>
          <p:cNvSpPr/>
          <p:nvPr/>
        </p:nvSpPr>
        <p:spPr>
          <a:xfrm>
            <a:off x="971550" y="3401695"/>
            <a:ext cx="2806700" cy="80899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功能需求拆解</a:t>
            </a:r>
            <a:endParaRPr lang="en-US" sz="1600" dirty="0"/>
          </a:p>
        </p:txBody>
      </p:sp>
      <p:sp>
        <p:nvSpPr>
          <p:cNvPr id="14" name="Text 7"/>
          <p:cNvSpPr/>
          <p:nvPr/>
        </p:nvSpPr>
        <p:spPr>
          <a:xfrm>
            <a:off x="876300" y="4321175"/>
            <a:ext cx="3011170" cy="11830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涵盖工具信息增删改查、借还登记与归还处理、用户分级权限管理、库存统计与预警、数据备份恢复五大核心模块。</a:t>
            </a:r>
            <a:endParaRPr lang="en-US" sz="1600" dirty="0"/>
          </a:p>
        </p:txBody>
      </p:sp>
      <p:sp>
        <p:nvSpPr>
          <p:cNvPr id="15" name="Text 8"/>
          <p:cNvSpPr/>
          <p:nvPr/>
        </p:nvSpPr>
        <p:spPr>
          <a:xfrm>
            <a:off x="4654550" y="3401695"/>
            <a:ext cx="2806700" cy="80899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非功能需求说明</a:t>
            </a:r>
            <a:endParaRPr lang="en-US" sz="1600" dirty="0"/>
          </a:p>
        </p:txBody>
      </p:sp>
      <p:sp>
        <p:nvSpPr>
          <p:cNvPr id="16" name="Text 9"/>
          <p:cNvSpPr/>
          <p:nvPr/>
        </p:nvSpPr>
        <p:spPr>
          <a:xfrm>
            <a:off x="4549775" y="4321175"/>
            <a:ext cx="3011170" cy="11830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系统需保证数据一致性、操作稳定性及输入友好性，支持文件持久化存储，确保异常退出后数据不丢失。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8283575" y="3401695"/>
            <a:ext cx="2806700" cy="80899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功能边界界定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8188325" y="4321175"/>
            <a:ext cx="3011170" cy="11830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本系统为单机控制台应用，不包含图形界面、网络通信及多线程并发功能，聚焦于核心业务流程的完整实现。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6510"/>
            <a:ext cx="12195810" cy="6880860"/>
          </a:xfrm>
          <a:prstGeom prst="rect">
            <a:avLst/>
          </a:prstGeom>
          <a:gradFill flip="none" rotWithShape="1">
            <a:gsLst>
              <a:gs pos="0">
                <a:srgbClr val="F6F8FD"/>
              </a:gs>
              <a:gs pos="100000">
                <a:srgbClr val="BEBEBE"/>
              </a:gs>
            </a:gsLst>
            <a:lin ang="5400000" scaled="1"/>
          </a:gradFill>
        </p:spPr>
      </p:sp>
      <p:sp>
        <p:nvSpPr>
          <p:cNvPr id="3" name="Shape 1"/>
          <p:cNvSpPr/>
          <p:nvPr/>
        </p:nvSpPr>
        <p:spPr>
          <a:xfrm>
            <a:off x="5438775" y="-23495"/>
            <a:ext cx="6750685" cy="688149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4" name="Text 2"/>
          <p:cNvSpPr/>
          <p:nvPr/>
        </p:nvSpPr>
        <p:spPr>
          <a:xfrm>
            <a:off x="6524625" y="4012565"/>
            <a:ext cx="4441825" cy="13817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ctr">
              <a:lnSpc>
                <a:spcPct val="120000"/>
              </a:lnSpc>
            </a:pPr>
            <a:r>
              <a:rPr lang="en-US" sz="32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功能设计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72070" y="1823085"/>
            <a:ext cx="1874520" cy="13309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9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02</a:t>
            </a:r>
            <a:endParaRPr lang="en-US" sz="1600" dirty="0"/>
          </a:p>
        </p:txBody>
      </p:sp>
      <p:pic>
        <p:nvPicPr>
          <p:cNvPr id="6" name="Image 0" descr="https://kimi-img.moonshot.cn/pub/slides/slides_tmpl/image/25-09-05-12:04:52-d2t62p61bb2p4onbqpl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590" y="2077085"/>
            <a:ext cx="920750" cy="335280"/>
          </a:xfrm>
          <a:prstGeom prst="rect">
            <a:avLst/>
          </a:prstGeom>
        </p:spPr>
      </p:pic>
      <p:pic>
        <p:nvPicPr>
          <p:cNvPr id="7" name="Image 1" descr="https://kimi-img.moonshot.cn/pub/slides/slides_tmpl/image/25-09-05-12:04:52-d2t62p61bb2p4onbqpmg.png"/>
          <p:cNvPicPr>
            <a:picLocks noChangeAspect="1"/>
          </p:cNvPicPr>
          <p:nvPr/>
        </p:nvPicPr>
        <p:blipFill>
          <a:blip r:embed="rId2"/>
          <a:srcRect l="20534"/>
          <a:stretch>
            <a:fillRect/>
          </a:stretch>
        </p:blipFill>
        <p:spPr>
          <a:xfrm>
            <a:off x="1087120" y="-23495"/>
            <a:ext cx="3194685" cy="6858000"/>
          </a:xfrm>
          <a:prstGeom prst="rect">
            <a:avLst/>
          </a:prstGeom>
        </p:spPr>
      </p:pic>
      <p:pic>
        <p:nvPicPr>
          <p:cNvPr id="8" name="Image 2" descr="https://kimi-img.moonshot.cn/pub/slides/slides_tmpl/image/25-09-05-12:04:52-d2t62p61bb2p4onbq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7370" y="2077085"/>
            <a:ext cx="2712720" cy="267017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94370" y="0"/>
            <a:ext cx="3897630" cy="132397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3" name="Shape 1"/>
          <p:cNvSpPr/>
          <p:nvPr/>
        </p:nvSpPr>
        <p:spPr>
          <a:xfrm>
            <a:off x="-9525" y="-18415"/>
            <a:ext cx="8302625" cy="687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8650" y="258445"/>
            <a:ext cx="4588510" cy="70612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系统整体架构与模块划分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-9525" y="1984375"/>
            <a:ext cx="1012190" cy="24447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6" name="Shape 4"/>
          <p:cNvSpPr/>
          <p:nvPr/>
        </p:nvSpPr>
        <p:spPr>
          <a:xfrm>
            <a:off x="7256780" y="1984375"/>
            <a:ext cx="1037590" cy="24447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7" name="Shape 5"/>
          <p:cNvSpPr/>
          <p:nvPr/>
        </p:nvSpPr>
        <p:spPr>
          <a:xfrm>
            <a:off x="7256780" y="4408805"/>
            <a:ext cx="1037590" cy="24447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8" name="Shape 6"/>
          <p:cNvSpPr/>
          <p:nvPr/>
        </p:nvSpPr>
        <p:spPr>
          <a:xfrm>
            <a:off x="-9525" y="4441190"/>
            <a:ext cx="1012190" cy="24447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9" name="Shape 7"/>
          <p:cNvSpPr/>
          <p:nvPr/>
        </p:nvSpPr>
        <p:spPr>
          <a:xfrm>
            <a:off x="3981450" y="4002405"/>
            <a:ext cx="259715" cy="259715"/>
          </a:xfrm>
          <a:prstGeom prst="mathPlus">
            <a:avLst>
              <a:gd name="adj1" fmla="val 0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27230" y="-23495"/>
            <a:ext cx="76200" cy="6881495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95000">
                <a:srgbClr val="262626"/>
              </a:gs>
              <a:gs pos="100000">
                <a:srgbClr val="262626"/>
              </a:gs>
            </a:gsLst>
            <a:lin ang="16800000" scaled="1"/>
          </a:gradFill>
        </p:spPr>
      </p:sp>
      <p:sp>
        <p:nvSpPr>
          <p:cNvPr id="11" name="Shape 9"/>
          <p:cNvSpPr/>
          <p:nvPr/>
        </p:nvSpPr>
        <p:spPr>
          <a:xfrm rot="5400000">
            <a:off x="4109085" y="-2861945"/>
            <a:ext cx="76200" cy="829437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95000">
                <a:srgbClr val="262626"/>
              </a:gs>
              <a:gs pos="100000">
                <a:srgbClr val="262626"/>
              </a:gs>
            </a:gsLst>
            <a:lin ang="16800000" scaled="1"/>
          </a:gradFill>
        </p:spPr>
      </p:sp>
      <p:sp>
        <p:nvSpPr>
          <p:cNvPr id="12" name="Shape 10"/>
          <p:cNvSpPr/>
          <p:nvPr/>
        </p:nvSpPr>
        <p:spPr>
          <a:xfrm rot="5400000">
            <a:off x="6063615" y="738505"/>
            <a:ext cx="76200" cy="12174855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95000">
                <a:srgbClr val="262626"/>
              </a:gs>
              <a:gs pos="100000">
                <a:srgbClr val="262626"/>
              </a:gs>
            </a:gsLst>
            <a:lin ang="16800000" scaled="1"/>
          </a:gradFill>
        </p:spPr>
      </p:sp>
      <p:pic>
        <p:nvPicPr>
          <p:cNvPr id="13" name="Image 0" descr="https://kimi-img.moonshot.cn/pub/slides/slides_tmpl/image/25-09-05-12:04:58-d2t62qm1bb2p4onbqqj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3925" y="1514475"/>
            <a:ext cx="3334385" cy="508381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98930" y="1818640"/>
            <a:ext cx="2342515" cy="57150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algn="r"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六大核心模块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605" y="2360930"/>
            <a:ext cx="3331845" cy="9101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系统划分为工具管理、借还管理、用户认证、数据统计、文件操作、工具函数六大模块，职责清晰。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427855" y="1818640"/>
            <a:ext cx="2342515" cy="57150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模块耦合设计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30395" y="2360930"/>
            <a:ext cx="3331845" cy="9101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各模块通过头文件声明接口，源文件实现细节，实现高内聚低耦合，便于独立开发与后期维护扩展。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598930" y="4275455"/>
            <a:ext cx="2342515" cy="57150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algn="r"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数据流向说明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9605" y="4799330"/>
            <a:ext cx="3331845" cy="9101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用户操作经认证模块验证后，调用业务模块处理数据，最终通过文件模块持久化，流程闭环可控。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427855" y="4243070"/>
            <a:ext cx="2342515" cy="57150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代码复用策略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430395" y="4766310"/>
            <a:ext cx="3331845" cy="9101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通用输入验证、日期处理、清屏暂停等功能封装至工具函数模块，减少重复代码，提升可维护性。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0">
            <a:off x="-9525" y="2712085"/>
            <a:ext cx="12195810" cy="4145915"/>
          </a:xfrm>
          <a:prstGeom prst="rect">
            <a:avLst/>
          </a:prstGeom>
          <a:solidFill>
            <a:srgbClr val="0D0D0D"/>
          </a:solidFill>
        </p:spPr>
      </p:sp>
      <p:sp>
        <p:nvSpPr>
          <p:cNvPr id="3" name="Shape 1"/>
          <p:cNvSpPr/>
          <p:nvPr/>
        </p:nvSpPr>
        <p:spPr>
          <a:xfrm rot="10800000">
            <a:off x="6325870" y="0"/>
            <a:ext cx="5860415" cy="4145915"/>
          </a:xfrm>
          <a:prstGeom prst="rect">
            <a:avLst/>
          </a:prstGeom>
          <a:solidFill>
            <a:srgbClr val="0D0D0D"/>
          </a:solidFill>
        </p:spPr>
      </p:sp>
      <p:pic>
        <p:nvPicPr>
          <p:cNvPr id="4" name="Image 0" descr="https://kimi-img.moonshot.cn/pub/slides/slides_tmpl/image/25-09-05-12:04:56-d2t62q61bb2p4onbqq3g.png"/>
          <p:cNvPicPr>
            <a:picLocks noChangeAspect="1"/>
          </p:cNvPicPr>
          <p:nvPr/>
        </p:nvPicPr>
        <p:blipFill>
          <a:blip r:embed="rId1"/>
          <a:srcRect l="45304" t="22102"/>
          <a:stretch>
            <a:fillRect/>
          </a:stretch>
        </p:blipFill>
        <p:spPr>
          <a:xfrm>
            <a:off x="4685665" y="1243965"/>
            <a:ext cx="4947920" cy="31153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10800000">
            <a:off x="3251835" y="5427345"/>
            <a:ext cx="8940165" cy="74549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326505" y="5440045"/>
            <a:ext cx="5051425" cy="6915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r">
              <a:lnSpc>
                <a:spcPct val="120000"/>
              </a:lnSpc>
            </a:pPr>
            <a:r>
              <a:rPr lang="en-US" sz="36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数据结构设计核心思路</a:t>
            </a:r>
            <a:endParaRPr lang="en-US" sz="1600" dirty="0"/>
          </a:p>
        </p:txBody>
      </p:sp>
      <p:pic>
        <p:nvPicPr>
          <p:cNvPr id="7" name="Image 1" descr="https://kimi-img.moonshot.cn/pub/slides/slides_tmpl/image/25-09-05-12:04:56-d2t62q61bb2p4onbqq3g.png"/>
          <p:cNvPicPr>
            <a:picLocks noChangeAspect="1"/>
          </p:cNvPicPr>
          <p:nvPr/>
        </p:nvPicPr>
        <p:blipFill>
          <a:blip r:embed="rId1"/>
          <a:srcRect l="27088" t="67243" r="55988" b="5335"/>
          <a:stretch>
            <a:fillRect/>
          </a:stretch>
        </p:blipFill>
        <p:spPr>
          <a:xfrm>
            <a:off x="3037840" y="3049270"/>
            <a:ext cx="1530985" cy="1096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7375" y="3049270"/>
            <a:ext cx="2205355" cy="7023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链表选型依据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587375" y="3898900"/>
            <a:ext cx="2195195" cy="2451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采用单向链表而非数组，支持运行时动态增删节点，无需预先分配固定空间，完美适配工具数量变化频繁的业务场景。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9154795" y="1243965"/>
            <a:ext cx="2205355" cy="7023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三大结构体定义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54795" y="2093595"/>
            <a:ext cx="2195195" cy="2451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Tool结构体管理工具属性与历史记录，BorrowRecord结构体跟踪借还全流程，User结构体维护账户与角色信息，三者通过指针关联形成完整数据网络。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2:04:57-d2t62qe1bb2p4onbqq9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335" y="1548765"/>
            <a:ext cx="4718050" cy="531558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4445" y="62865"/>
            <a:ext cx="4717415" cy="1483995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830185" y="869950"/>
            <a:ext cx="22479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5" name="Shape 2"/>
          <p:cNvSpPr/>
          <p:nvPr/>
        </p:nvSpPr>
        <p:spPr>
          <a:xfrm>
            <a:off x="7863205" y="2713355"/>
            <a:ext cx="22402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7839710" y="4596130"/>
            <a:ext cx="22529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7" name="Text 4"/>
          <p:cNvSpPr/>
          <p:nvPr/>
        </p:nvSpPr>
        <p:spPr>
          <a:xfrm>
            <a:off x="273050" y="471170"/>
            <a:ext cx="4300220" cy="128778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262626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核心功能流程与交互逻辑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11065" y="46355"/>
            <a:ext cx="0" cy="683133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9" name="Shape 6"/>
          <p:cNvSpPr/>
          <p:nvPr/>
        </p:nvSpPr>
        <p:spPr>
          <a:xfrm rot="5400000">
            <a:off x="6036945" y="-6035675"/>
            <a:ext cx="147955" cy="12231370"/>
          </a:xfrm>
          <a:prstGeom prst="rect">
            <a:avLst/>
          </a:prstGeom>
          <a:solidFill>
            <a:srgbClr val="1C1C1C"/>
          </a:solidFill>
        </p:spPr>
      </p:sp>
      <p:sp>
        <p:nvSpPr>
          <p:cNvPr id="10" name="Shape 7"/>
          <p:cNvSpPr/>
          <p:nvPr/>
        </p:nvSpPr>
        <p:spPr>
          <a:xfrm>
            <a:off x="4717415" y="6331585"/>
            <a:ext cx="7508875" cy="532765"/>
          </a:xfrm>
          <a:prstGeom prst="rect">
            <a:avLst/>
          </a:prstGeom>
          <a:solidFill>
            <a:srgbClr val="101010"/>
          </a:solidFill>
        </p:spPr>
      </p:sp>
      <p:pic>
        <p:nvPicPr>
          <p:cNvPr id="11" name="Image 1" descr="https://kimi-img.moonshot.cn/pub/slides/slides_tmpl/image/25-09-05-12:04:56-d2t62q61bb2p4onbqq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5755" y="504190"/>
            <a:ext cx="1164590" cy="73152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09-05-12:04:56-d2t62q61bb2p4onbqq7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5755" y="2350770"/>
            <a:ext cx="1164590" cy="73152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09-05-12:04:56-d2t62q61bb2p4onbqq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755" y="4217670"/>
            <a:ext cx="1164590" cy="7315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467350" y="670560"/>
            <a:ext cx="234823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工具查询多样化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5481955" y="1177290"/>
            <a:ext cx="5952490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支持按编号精确查询、按名称模糊匹配、按类型筛选三种方式，满足不同场景下的信息检索需求。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5481955" y="2499360"/>
            <a:ext cx="234823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借还业务闭环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5443220" y="3003550"/>
            <a:ext cx="5952490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借阅时校验库存与日期有效性，生成记录并扣减库存；归还时支持双模式定位记录，自动计算逾期罚款并恢复库存。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5481955" y="4373880"/>
            <a:ext cx="234823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分级权限控制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481955" y="4875530"/>
            <a:ext cx="5952490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管理员拥有增删改、用户管理、备份恢复等全部权限，普通用户仅限查询与借还操作，敏感功能严格拦截。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4860" y="1491615"/>
            <a:ext cx="5301615" cy="2105660"/>
          </a:xfrm>
          <a:prstGeom prst="rect">
            <a:avLst/>
          </a:prstGeom>
          <a:solidFill>
            <a:srgbClr val="D9D9D9"/>
          </a:solidFill>
        </p:spPr>
      </p:sp>
      <p:sp>
        <p:nvSpPr>
          <p:cNvPr id="3" name="Text 1"/>
          <p:cNvSpPr/>
          <p:nvPr/>
        </p:nvSpPr>
        <p:spPr>
          <a:xfrm>
            <a:off x="3570605" y="497205"/>
            <a:ext cx="5051425" cy="6915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ctr"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文件存储与数据持久化方案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4540" cy="282575"/>
          </a:xfrm>
          <a:prstGeom prst="rect">
            <a:avLst/>
          </a:prstGeom>
          <a:solidFill>
            <a:srgbClr val="101010"/>
          </a:solidFill>
        </p:spPr>
      </p:sp>
      <p:sp>
        <p:nvSpPr>
          <p:cNvPr id="5" name="Shape 3"/>
          <p:cNvSpPr/>
          <p:nvPr/>
        </p:nvSpPr>
        <p:spPr>
          <a:xfrm>
            <a:off x="6083935" y="1491615"/>
            <a:ext cx="2540" cy="5952490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404040"/>
                </a:gs>
                <a:gs pos="83000">
                  <a:srgbClr val="000000">
                    <a:alpha val="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5340000" scaled="1"/>
            </a:gra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779780" y="1491615"/>
            <a:ext cx="10601960" cy="571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FFFFFF"/>
                </a:gs>
                <a:gs pos="31000">
                  <a:srgbClr val="909090"/>
                </a:gs>
                <a:gs pos="53000">
                  <a:srgbClr val="202020"/>
                </a:gs>
                <a:gs pos="76000">
                  <a:srgbClr val="909090"/>
                </a:gs>
                <a:gs pos="100000">
                  <a:srgbClr val="FFFFFF"/>
                </a:gs>
              </a:gsLst>
              <a:lin ang="0" scaled="1"/>
            </a:gra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79780" y="1403985"/>
            <a:ext cx="10601960" cy="571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FFFFFF"/>
                </a:gs>
                <a:gs pos="31000">
                  <a:srgbClr val="909090"/>
                </a:gs>
                <a:gs pos="53000">
                  <a:srgbClr val="202020"/>
                </a:gs>
                <a:gs pos="76000">
                  <a:srgbClr val="909090"/>
                </a:gs>
                <a:gs pos="100000">
                  <a:srgbClr val="FFFFFF"/>
                </a:gs>
              </a:gsLst>
              <a:lin ang="0" scaled="1"/>
            </a:gra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779780" y="290830"/>
            <a:ext cx="0" cy="6558915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381740" y="290830"/>
            <a:ext cx="0" cy="6558915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0" y="6173470"/>
            <a:ext cx="788035" cy="690880"/>
          </a:xfrm>
          <a:prstGeom prst="rect">
            <a:avLst/>
          </a:prstGeom>
          <a:solidFill>
            <a:srgbClr val="101010"/>
          </a:solidFill>
        </p:spPr>
      </p:sp>
      <p:sp>
        <p:nvSpPr>
          <p:cNvPr id="11" name="Shape 9"/>
          <p:cNvSpPr/>
          <p:nvPr/>
        </p:nvSpPr>
        <p:spPr>
          <a:xfrm>
            <a:off x="11382375" y="6173470"/>
            <a:ext cx="824230" cy="690880"/>
          </a:xfrm>
          <a:prstGeom prst="rect">
            <a:avLst/>
          </a:prstGeom>
          <a:solidFill>
            <a:srgbClr val="101010"/>
          </a:solidFill>
        </p:spPr>
      </p:sp>
      <p:pic>
        <p:nvPicPr>
          <p:cNvPr id="12" name="Image 0" descr="https://kimi-img.moonshot.cn/pub/slides/slides_tmpl/image/25-09-05-12:04:56-d2t62q61bb2p4onbqq40.png"/>
          <p:cNvPicPr>
            <a:picLocks noChangeAspect="1"/>
          </p:cNvPicPr>
          <p:nvPr/>
        </p:nvPicPr>
        <p:blipFill>
          <a:blip r:embed="rId1"/>
          <a:srcRect b="20569"/>
          <a:stretch>
            <a:fillRect/>
          </a:stretch>
        </p:blipFill>
        <p:spPr>
          <a:xfrm>
            <a:off x="779780" y="3597275"/>
            <a:ext cx="10625455" cy="2658110"/>
          </a:xfrm>
          <a:prstGeom prst="rect">
            <a:avLst/>
          </a:prstGeom>
        </p:spPr>
      </p:pic>
      <p:pic>
        <p:nvPicPr>
          <p:cNvPr id="13" name="Image 1" descr="https://kimi-img.moonshot.cn/pub/slides/slides_tmpl/image/25-09-05-12:04:55-d2t62pu1bb2p4onbqq1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" y="1607185"/>
            <a:ext cx="701040" cy="640080"/>
          </a:xfrm>
          <a:prstGeom prst="rect">
            <a:avLst/>
          </a:prstGeom>
        </p:spPr>
      </p:pic>
      <p:pic>
        <p:nvPicPr>
          <p:cNvPr id="14" name="Image 2" descr="https://kimi-img.moonshot.cn/pub/slides/slides_tmpl/image/25-09-05-12:04:56-d2t62q61bb2p4onbqq2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6190" y="1607185"/>
            <a:ext cx="701040" cy="64008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96290" y="6179820"/>
            <a:ext cx="10586720" cy="3708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6" name="Text 11"/>
          <p:cNvSpPr/>
          <p:nvPr/>
        </p:nvSpPr>
        <p:spPr>
          <a:xfrm>
            <a:off x="1065530" y="1684655"/>
            <a:ext cx="459740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二进制文件组织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067435" y="2228215"/>
            <a:ext cx="4662170" cy="9101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采用二进制格式存储四类数据：tools.dat存工具信息、records.dat存借还记录、users.dat存用户数据、next_id.dat存自增编号，读写高效且空间紧凑。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38900" y="1684655"/>
            <a:ext cx="459740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安全写入与备份策略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40805" y="2228215"/>
            <a:ext cx="4662170" cy="9101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通过临时文件写入后原子重命名，防止写入中断导致数据损坏；提供一键备份与恢复功能，支持数据快速回滚，保障数据安全。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6510"/>
            <a:ext cx="12195810" cy="6880860"/>
          </a:xfrm>
          <a:prstGeom prst="rect">
            <a:avLst/>
          </a:prstGeom>
          <a:gradFill flip="none" rotWithShape="1">
            <a:gsLst>
              <a:gs pos="0">
                <a:srgbClr val="F6F8FD"/>
              </a:gs>
              <a:gs pos="100000">
                <a:srgbClr val="BEBEBE"/>
              </a:gs>
            </a:gsLst>
            <a:lin ang="5400000" scaled="1"/>
          </a:gradFill>
        </p:spPr>
      </p:sp>
      <p:sp>
        <p:nvSpPr>
          <p:cNvPr id="3" name="Shape 1"/>
          <p:cNvSpPr/>
          <p:nvPr/>
        </p:nvSpPr>
        <p:spPr>
          <a:xfrm>
            <a:off x="5438775" y="-23495"/>
            <a:ext cx="6750685" cy="688149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4" name="Text 2"/>
          <p:cNvSpPr/>
          <p:nvPr/>
        </p:nvSpPr>
        <p:spPr>
          <a:xfrm>
            <a:off x="6524625" y="4012565"/>
            <a:ext cx="4441825" cy="13817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ctr">
              <a:lnSpc>
                <a:spcPct val="120000"/>
              </a:lnSpc>
            </a:pPr>
            <a:r>
              <a:rPr lang="en-US" sz="32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难点与创新点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72070" y="1823085"/>
            <a:ext cx="1874520" cy="13309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9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03</a:t>
            </a:r>
            <a:endParaRPr lang="en-US" sz="1600" dirty="0"/>
          </a:p>
        </p:txBody>
      </p:sp>
      <p:pic>
        <p:nvPicPr>
          <p:cNvPr id="6" name="Image 0" descr="https://kimi-img.moonshot.cn/pub/slides/slides_tmpl/image/25-09-05-12:04:52-d2t62p61bb2p4onbqpl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590" y="2077085"/>
            <a:ext cx="920750" cy="335280"/>
          </a:xfrm>
          <a:prstGeom prst="rect">
            <a:avLst/>
          </a:prstGeom>
        </p:spPr>
      </p:pic>
      <p:pic>
        <p:nvPicPr>
          <p:cNvPr id="7" name="Image 1" descr="https://kimi-img.moonshot.cn/pub/slides/slides_tmpl/image/25-09-05-12:04:52-d2t62p61bb2p4onbqpmg.png"/>
          <p:cNvPicPr>
            <a:picLocks noChangeAspect="1"/>
          </p:cNvPicPr>
          <p:nvPr/>
        </p:nvPicPr>
        <p:blipFill>
          <a:blip r:embed="rId2"/>
          <a:srcRect l="20534"/>
          <a:stretch>
            <a:fillRect/>
          </a:stretch>
        </p:blipFill>
        <p:spPr>
          <a:xfrm>
            <a:off x="1087120" y="-23495"/>
            <a:ext cx="3194685" cy="6858000"/>
          </a:xfrm>
          <a:prstGeom prst="rect">
            <a:avLst/>
          </a:prstGeom>
        </p:spPr>
      </p:pic>
      <p:pic>
        <p:nvPicPr>
          <p:cNvPr id="8" name="Image 2" descr="https://kimi-img.moonshot.cn/pub/slides/slides_tmpl/image/25-09-05-12:04:52-d2t62p61bb2p4onbq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7370" y="2077085"/>
            <a:ext cx="2712720" cy="267017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9890760" y="4552315"/>
            <a:ext cx="1200785" cy="3419475"/>
          </a:xfrm>
          <a:prstGeom prst="rect">
            <a:avLst/>
          </a:prstGeom>
          <a:solidFill>
            <a:srgbClr val="C0C0C0"/>
          </a:solidFill>
        </p:spPr>
      </p:sp>
      <p:sp>
        <p:nvSpPr>
          <p:cNvPr id="3" name="Text 1"/>
          <p:cNvSpPr/>
          <p:nvPr/>
        </p:nvSpPr>
        <p:spPr>
          <a:xfrm>
            <a:off x="782320" y="269240"/>
            <a:ext cx="8233410" cy="89852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动态内存管理与链表操作难点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 rot="5400000">
            <a:off x="-1124585" y="3178175"/>
            <a:ext cx="4485005" cy="471805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656580"/>
            <a:ext cx="12212955" cy="5715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0" y="1171575"/>
            <a:ext cx="12212955" cy="5715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rot="5400000">
            <a:off x="-1801495" y="2971165"/>
            <a:ext cx="4485005" cy="882015"/>
          </a:xfrm>
          <a:prstGeom prst="rect">
            <a:avLst/>
          </a:prstGeom>
          <a:solidFill>
            <a:srgbClr val="C0C0C0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9031605" y="-2004695"/>
            <a:ext cx="219710" cy="6120130"/>
          </a:xfrm>
          <a:prstGeom prst="rect">
            <a:avLst/>
          </a:prstGeom>
          <a:solidFill>
            <a:srgbClr val="C0C0C0"/>
          </a:solidFill>
        </p:spPr>
      </p:sp>
      <p:sp>
        <p:nvSpPr>
          <p:cNvPr id="9" name="Shape 7"/>
          <p:cNvSpPr/>
          <p:nvPr/>
        </p:nvSpPr>
        <p:spPr>
          <a:xfrm>
            <a:off x="4008120" y="1165225"/>
            <a:ext cx="4771390" cy="221424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10" name="Shape 8"/>
          <p:cNvSpPr/>
          <p:nvPr/>
        </p:nvSpPr>
        <p:spPr>
          <a:xfrm>
            <a:off x="1353820" y="3373120"/>
            <a:ext cx="4733290" cy="228282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11" name="Shape 9"/>
          <p:cNvSpPr/>
          <p:nvPr/>
        </p:nvSpPr>
        <p:spPr>
          <a:xfrm rot="5400000">
            <a:off x="7824470" y="2113915"/>
            <a:ext cx="4488180" cy="2596515"/>
          </a:xfrm>
          <a:prstGeom prst="rect">
            <a:avLst/>
          </a:prstGeom>
          <a:gradFill flip="none" rotWithShape="1">
            <a:gsLst>
              <a:gs pos="0">
                <a:srgbClr val="262626"/>
              </a:gs>
              <a:gs pos="20000">
                <a:srgbClr val="262626"/>
              </a:gs>
              <a:gs pos="100000">
                <a:srgbClr val="000000"/>
              </a:gs>
            </a:gsLst>
            <a:lin ang="7800000" scaled="1"/>
          </a:gradFill>
        </p:spPr>
      </p:sp>
      <p:sp>
        <p:nvSpPr>
          <p:cNvPr id="12" name="Shape 10"/>
          <p:cNvSpPr/>
          <p:nvPr/>
        </p:nvSpPr>
        <p:spPr>
          <a:xfrm rot="5400000">
            <a:off x="1604645" y="927735"/>
            <a:ext cx="2200910" cy="270129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6293485" y="3166745"/>
            <a:ext cx="2275205" cy="270129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pic>
        <p:nvPicPr>
          <p:cNvPr id="14" name="Image 0" descr="https://kimi-img.moonshot.cn/pub/slides/slides_tmpl/image/25-09-05-12:04:57-d2t62qe1bb2p4onbqqf0.png"/>
          <p:cNvPicPr>
            <a:picLocks noChangeAspect="1"/>
          </p:cNvPicPr>
          <p:nvPr/>
        </p:nvPicPr>
        <p:blipFill>
          <a:blip r:embed="rId1"/>
          <a:srcRect r="76255" b="59200"/>
          <a:stretch>
            <a:fillRect/>
          </a:stretch>
        </p:blipFill>
        <p:spPr>
          <a:xfrm>
            <a:off x="1537970" y="1337945"/>
            <a:ext cx="2475230" cy="2034540"/>
          </a:xfrm>
          <a:prstGeom prst="rect">
            <a:avLst/>
          </a:prstGeom>
        </p:spPr>
      </p:pic>
      <p:pic>
        <p:nvPicPr>
          <p:cNvPr id="15" name="Image 1" descr="https://kimi-img.moonshot.cn/pub/slides/slides_tmpl/image/25-09-05-12:04:57-d2t62qe1bb2p4onbqqf0.png"/>
          <p:cNvPicPr>
            <a:picLocks noChangeAspect="1"/>
          </p:cNvPicPr>
          <p:nvPr/>
        </p:nvPicPr>
        <p:blipFill>
          <a:blip r:embed="rId1"/>
          <a:srcRect l="44682" t="43130" r="31573" b="16070"/>
          <a:stretch>
            <a:fillRect/>
          </a:stretch>
        </p:blipFill>
        <p:spPr>
          <a:xfrm>
            <a:off x="6191250" y="3580130"/>
            <a:ext cx="2475230" cy="20345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57040" y="1337945"/>
            <a:ext cx="235839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指针操作复杂性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271645" y="1781175"/>
            <a:ext cx="4248785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链表插入删除需精确维护指针指向，头节点处理、空链表判断、尾节点定位等边界场景极易出错。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1577340" y="3674745"/>
            <a:ext cx="235839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内存泄漏防控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591945" y="4117975"/>
            <a:ext cx="4248150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每次malloc必须对应free，系统退出时需遍历释放三条链表全部节点，防止内存泄漏导致资源耗尽。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9191625" y="1428115"/>
            <a:ext cx="1753870" cy="31813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排序算法实现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9191625" y="2273935"/>
            <a:ext cx="1753870" cy="145589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借还记录排序采用冒泡排序交换指针而非数据，避免大结构体拷贝开销，提升排序效率。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525" y="-22860"/>
            <a:ext cx="12195810" cy="688086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100000">
                <a:srgbClr val="262626"/>
              </a:gs>
            </a:gsLst>
            <a:lin ang="5400000" scaled="1"/>
          </a:gradFill>
        </p:spPr>
      </p:sp>
      <p:sp>
        <p:nvSpPr>
          <p:cNvPr id="3" name="Shape 1"/>
          <p:cNvSpPr/>
          <p:nvPr/>
        </p:nvSpPr>
        <p:spPr>
          <a:xfrm>
            <a:off x="-10160" y="-21590"/>
            <a:ext cx="12201525" cy="481965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" name="Shape 2"/>
          <p:cNvSpPr/>
          <p:nvPr/>
        </p:nvSpPr>
        <p:spPr>
          <a:xfrm>
            <a:off x="3734435" y="459740"/>
            <a:ext cx="4574540" cy="5824855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63050" y="2495550"/>
            <a:ext cx="1880870" cy="0"/>
          </a:xfrm>
          <a:prstGeom prst="line">
            <a:avLst/>
          </a:prstGeom>
          <a:noFill/>
          <a:ln w="3175">
            <a:gradFill flip="none" rotWithShape="1">
              <a:gsLst>
                <a:gs pos="0">
                  <a:srgbClr val="000000"/>
                </a:gs>
                <a:gs pos="53000">
                  <a:srgbClr val="595959"/>
                </a:gs>
                <a:gs pos="100000">
                  <a:srgbClr val="000000"/>
                </a:gs>
              </a:gsLst>
              <a:lin ang="10800000" scaled="1"/>
            </a:gra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 flipV="1">
            <a:off x="847725" y="2495550"/>
            <a:ext cx="1920875" cy="8890"/>
          </a:xfrm>
          <a:prstGeom prst="line">
            <a:avLst/>
          </a:prstGeom>
          <a:noFill/>
          <a:ln w="3175">
            <a:gradFill flip="none" rotWithShape="1">
              <a:gsLst>
                <a:gs pos="0">
                  <a:srgbClr val="000000"/>
                </a:gs>
                <a:gs pos="53000">
                  <a:srgbClr val="595959"/>
                </a:gs>
                <a:gs pos="100000">
                  <a:srgbClr val="000000"/>
                </a:gs>
              </a:gsLst>
              <a:lin ang="10800000" scaled="1"/>
            </a:gra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4490085" y="1544320"/>
            <a:ext cx="3004820" cy="13462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ctr"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数据一致性与异常处理机制</a:t>
            </a:r>
            <a:endParaRPr lang="en-US" sz="1600" dirty="0"/>
          </a:p>
        </p:txBody>
      </p:sp>
      <p:pic>
        <p:nvPicPr>
          <p:cNvPr id="8" name="Image 0" descr="https://kimi-img.moonshot.cn/pub/slides/slides_tmpl/image/25-09-05-12:04:54-d2t62pm1bb2p4onbqpt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225" y="1218565"/>
            <a:ext cx="585470" cy="396240"/>
          </a:xfrm>
          <a:prstGeom prst="rect">
            <a:avLst/>
          </a:prstGeom>
        </p:spPr>
      </p:pic>
      <p:pic>
        <p:nvPicPr>
          <p:cNvPr id="9" name="Image 1" descr="https://kimi-img.moonshot.cn/pub/slides/slides_tmpl/image/25-09-05-12:04:55-d2t62pu1bb2p4onbqp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0855" y="1218565"/>
            <a:ext cx="585470" cy="396240"/>
          </a:xfrm>
          <a:prstGeom prst="rect">
            <a:avLst/>
          </a:prstGeom>
        </p:spPr>
      </p:pic>
      <p:pic>
        <p:nvPicPr>
          <p:cNvPr id="10" name="Image 2" descr="https://kimi-img.moonshot.cn/pub/slides/slides_tmpl/image/25-09-05-12:04:56-d2t62q61bb2p4onbqq20.png"/>
          <p:cNvPicPr>
            <a:picLocks noChangeAspect="1"/>
          </p:cNvPicPr>
          <p:nvPr/>
        </p:nvPicPr>
        <p:blipFill>
          <a:blip r:embed="rId3"/>
          <a:srcRect t="5611"/>
          <a:stretch>
            <a:fillRect/>
          </a:stretch>
        </p:blipFill>
        <p:spPr>
          <a:xfrm>
            <a:off x="3736340" y="459740"/>
            <a:ext cx="4578350" cy="63982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83920" y="1615440"/>
            <a:ext cx="1844040" cy="80899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输入合法性校验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951865" y="2839720"/>
            <a:ext cx="1782445" cy="22746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系统对整数范围、浮点数下限、日期格式及闰年有效性进行多层验证，拒绝非法输入进入业务逻辑，从源头防止数据污染与程序崩溃。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9250680" y="1615440"/>
            <a:ext cx="1844040" cy="80899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事务性操作保障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9323705" y="2839720"/>
            <a:ext cx="1773555" cy="22746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借还操作同步更新工具库存、借用次数及历史记录三个字段，任一环节失败均不提交；文件写入采用先临时后替换策略，确保数据持久化原子性。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0">
            <a:off x="12190095" y="1514475"/>
            <a:ext cx="0" cy="535114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404040"/>
                </a:gs>
                <a:gs pos="83000">
                  <a:srgbClr val="000000"/>
                </a:gs>
                <a:gs pos="100000">
                  <a:srgbClr val="000000"/>
                </a:gs>
              </a:gsLst>
              <a:lin ang="5340000" scaled="1"/>
            </a:gradFill>
            <a:prstDash val="solid"/>
            <a:headEnd type="none"/>
            <a:tailEnd type="none"/>
          </a:ln>
        </p:spPr>
      </p:sp>
      <p:sp>
        <p:nvSpPr>
          <p:cNvPr id="3" name="Shape 1"/>
          <p:cNvSpPr/>
          <p:nvPr/>
        </p:nvSpPr>
        <p:spPr>
          <a:xfrm rot="10800000">
            <a:off x="11835130" y="1514475"/>
            <a:ext cx="0" cy="535114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404040"/>
                </a:gs>
                <a:gs pos="83000">
                  <a:srgbClr val="000000"/>
                </a:gs>
                <a:gs pos="100000">
                  <a:srgbClr val="000000"/>
                </a:gs>
              </a:gsLst>
              <a:lin ang="5340000" scaled="1"/>
            </a:gra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 rot="10800000">
            <a:off x="6431915" y="1514475"/>
            <a:ext cx="0" cy="535114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404040"/>
                </a:gs>
                <a:gs pos="83000">
                  <a:srgbClr val="000000"/>
                </a:gs>
                <a:gs pos="100000">
                  <a:srgbClr val="000000"/>
                </a:gs>
              </a:gsLst>
              <a:lin ang="5340000" scaled="1"/>
            </a:gra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 rot="10800000">
            <a:off x="5759450" y="1514475"/>
            <a:ext cx="0" cy="535114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404040"/>
                </a:gs>
                <a:gs pos="83000">
                  <a:srgbClr val="000000"/>
                </a:gs>
                <a:gs pos="100000">
                  <a:srgbClr val="000000"/>
                </a:gs>
              </a:gsLst>
              <a:lin ang="5340000" scaled="1"/>
            </a:gra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 rot="10800000">
            <a:off x="353695" y="1514475"/>
            <a:ext cx="0" cy="535114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404040"/>
                </a:gs>
                <a:gs pos="83000">
                  <a:srgbClr val="000000"/>
                </a:gs>
                <a:gs pos="100000">
                  <a:srgbClr val="000000"/>
                </a:gs>
              </a:gsLst>
              <a:lin ang="5340000" scaled="1"/>
            </a:gra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rot="10800000">
            <a:off x="0" y="1514475"/>
            <a:ext cx="0" cy="5351145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404040"/>
                </a:gs>
                <a:gs pos="83000">
                  <a:srgbClr val="000000"/>
                </a:gs>
                <a:gs pos="100000">
                  <a:srgbClr val="000000"/>
                </a:gs>
              </a:gsLst>
              <a:lin ang="5340000" scaled="1"/>
            </a:gra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 flipH="1">
            <a:off x="353060" y="2345055"/>
            <a:ext cx="11494770" cy="0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0D0D0D"/>
                </a:gs>
                <a:gs pos="49000">
                  <a:srgbClr val="404040"/>
                </a:gs>
                <a:gs pos="100000">
                  <a:srgbClr val="0D0D0D"/>
                </a:gs>
              </a:gsLst>
              <a:lin ang="5160000" scaled="1"/>
            </a:gra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 flipH="1">
            <a:off x="353060" y="6350000"/>
            <a:ext cx="11480800" cy="0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0D0D0D"/>
                </a:gs>
                <a:gs pos="49000">
                  <a:srgbClr val="404040"/>
                </a:gs>
                <a:gs pos="100000">
                  <a:srgbClr val="0D0D0D"/>
                </a:gs>
              </a:gsLst>
              <a:lin ang="5160000" scaled="1"/>
            </a:gra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-5080" y="6584315"/>
            <a:ext cx="12207240" cy="281305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>
                <a:alpha val="23922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-14605" y="-35560"/>
            <a:ext cx="12207240" cy="2175510"/>
          </a:xfrm>
          <a:prstGeom prst="rect">
            <a:avLst/>
          </a:prstGeom>
          <a:solidFill>
            <a:srgbClr val="000000"/>
          </a:solidFill>
          <a:ln w="15875">
            <a:solidFill>
              <a:srgbClr val="000000">
                <a:alpha val="23922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1025" y="962660"/>
            <a:ext cx="8233410" cy="89852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功能创新与设计亮点总结</a:t>
            </a:r>
            <a:endParaRPr lang="en-US" sz="1600" dirty="0"/>
          </a:p>
        </p:txBody>
      </p:sp>
      <p:pic>
        <p:nvPicPr>
          <p:cNvPr id="13" name="Image 0" descr="https://kimi-img.moonshot.cn/pub/slides/slides_tmpl/image/25-09-05-12:04:57-d2t62qe1bb2p4onbqqgg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1915" y="-42545"/>
            <a:ext cx="5772785" cy="218249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81025" y="2506980"/>
            <a:ext cx="459740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权限分级机制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90550" y="2966720"/>
            <a:ext cx="4932045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首创管理员与普通用户双角色体系，敏感操作严格鉴权，提升系统安全性与实用性。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81025" y="4507230"/>
            <a:ext cx="459740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可视化统计输出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90550" y="4966970"/>
            <a:ext cx="4932045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借用排行功能输出ASCII柱状图，直观展示工具使用频率，增强数据可读性。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57975" y="2506980"/>
            <a:ext cx="459740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分页浏览设计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667500" y="2966720"/>
            <a:ext cx="4932045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借还记录支持每页10条分页显示，N/P键翻页，解决大数据量下的信息过载问题。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657975" y="4507230"/>
            <a:ext cx="459740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智能逾期管理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667500" y="4966970"/>
            <a:ext cx="4932045" cy="637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系统自动检测逾期记录并按日计算罚款，贴近真实业务场景，提升管理精细化水平。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6510"/>
            <a:ext cx="12195810" cy="6880860"/>
          </a:xfrm>
          <a:prstGeom prst="rect">
            <a:avLst/>
          </a:prstGeom>
          <a:gradFill flip="none" rotWithShape="1">
            <a:gsLst>
              <a:gs pos="0">
                <a:srgbClr val="F6F8FD"/>
              </a:gs>
              <a:gs pos="100000">
                <a:srgbClr val="BEBEBE"/>
              </a:gs>
            </a:gsLst>
            <a:lin ang="5400000" scaled="1"/>
          </a:gradFill>
        </p:spPr>
      </p:sp>
      <p:sp>
        <p:nvSpPr>
          <p:cNvPr id="3" name="Shape 1"/>
          <p:cNvSpPr/>
          <p:nvPr/>
        </p:nvSpPr>
        <p:spPr>
          <a:xfrm>
            <a:off x="5438775" y="-23495"/>
            <a:ext cx="6750685" cy="6881495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4" name="Text 2"/>
          <p:cNvSpPr/>
          <p:nvPr/>
        </p:nvSpPr>
        <p:spPr>
          <a:xfrm>
            <a:off x="6524625" y="4012565"/>
            <a:ext cx="4441825" cy="13817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ctr">
              <a:lnSpc>
                <a:spcPct val="120000"/>
              </a:lnSpc>
            </a:pPr>
            <a:r>
              <a:rPr lang="en-US" sz="32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心得体会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72070" y="1823085"/>
            <a:ext cx="1874520" cy="13309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96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04</a:t>
            </a:r>
            <a:endParaRPr lang="en-US" sz="1600" dirty="0"/>
          </a:p>
        </p:txBody>
      </p:sp>
      <p:pic>
        <p:nvPicPr>
          <p:cNvPr id="6" name="Image 0" descr="https://kimi-img.moonshot.cn/pub/slides/slides_tmpl/image/25-09-05-12:04:52-d2t62p61bb2p4onbqpl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590" y="2077085"/>
            <a:ext cx="920750" cy="335280"/>
          </a:xfrm>
          <a:prstGeom prst="rect">
            <a:avLst/>
          </a:prstGeom>
        </p:spPr>
      </p:pic>
      <p:pic>
        <p:nvPicPr>
          <p:cNvPr id="7" name="Image 1" descr="https://kimi-img.moonshot.cn/pub/slides/slides_tmpl/image/25-09-05-12:04:52-d2t62p61bb2p4onbqpmg.png"/>
          <p:cNvPicPr>
            <a:picLocks noChangeAspect="1"/>
          </p:cNvPicPr>
          <p:nvPr/>
        </p:nvPicPr>
        <p:blipFill>
          <a:blip r:embed="rId2"/>
          <a:srcRect l="20534"/>
          <a:stretch>
            <a:fillRect/>
          </a:stretch>
        </p:blipFill>
        <p:spPr>
          <a:xfrm>
            <a:off x="1087120" y="-23495"/>
            <a:ext cx="3194685" cy="6858000"/>
          </a:xfrm>
          <a:prstGeom prst="rect">
            <a:avLst/>
          </a:prstGeom>
        </p:spPr>
      </p:pic>
      <p:pic>
        <p:nvPicPr>
          <p:cNvPr id="8" name="Image 2" descr="https://kimi-img.moonshot.cn/pub/slides/slides_tmpl/image/25-09-05-12:04:52-d2t62p61bb2p4onbq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7370" y="2077085"/>
            <a:ext cx="2712720" cy="267017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635" cy="688086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100000">
                <a:srgbClr val="262626"/>
              </a:gs>
            </a:gsLst>
            <a:lin ang="5400000" scaled="1"/>
          </a:gradFill>
        </p:spPr>
      </p:sp>
      <p:sp>
        <p:nvSpPr>
          <p:cNvPr id="3" name="Text 1"/>
          <p:cNvSpPr/>
          <p:nvPr/>
        </p:nvSpPr>
        <p:spPr>
          <a:xfrm>
            <a:off x="581025" y="1011555"/>
            <a:ext cx="8233410" cy="89852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工程化思维与代码规范养成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2195830"/>
            <a:ext cx="12212955" cy="5715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0" y="2757805"/>
            <a:ext cx="12187555" cy="5715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235075" y="3355340"/>
            <a:ext cx="3540125" cy="352933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Shape 5"/>
          <p:cNvSpPr/>
          <p:nvPr/>
        </p:nvSpPr>
        <p:spPr>
          <a:xfrm>
            <a:off x="4829175" y="3355340"/>
            <a:ext cx="3579495" cy="352552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8" name="Shape 6"/>
          <p:cNvSpPr/>
          <p:nvPr/>
        </p:nvSpPr>
        <p:spPr>
          <a:xfrm>
            <a:off x="8476615" y="3354705"/>
            <a:ext cx="3715385" cy="3536315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4540" cy="58547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Shape 8"/>
          <p:cNvSpPr/>
          <p:nvPr/>
        </p:nvSpPr>
        <p:spPr>
          <a:xfrm>
            <a:off x="11442065" y="314960"/>
            <a:ext cx="98425" cy="98425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11" name="Shape 9"/>
          <p:cNvSpPr/>
          <p:nvPr/>
        </p:nvSpPr>
        <p:spPr>
          <a:xfrm>
            <a:off x="11600815" y="314960"/>
            <a:ext cx="98425" cy="98425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12" name="Shape 10"/>
          <p:cNvSpPr/>
          <p:nvPr/>
        </p:nvSpPr>
        <p:spPr>
          <a:xfrm>
            <a:off x="11760200" y="314960"/>
            <a:ext cx="98425" cy="98425"/>
          </a:xfrm>
          <a:prstGeom prst="ellipse">
            <a:avLst/>
          </a:prstGeom>
          <a:solidFill>
            <a:srgbClr val="000000"/>
          </a:solidFill>
        </p:spPr>
      </p:sp>
      <p:pic>
        <p:nvPicPr>
          <p:cNvPr id="13" name="Image 0" descr="https://kimi-img.moonshot.cn/pub/slides/slides_tmpl/image/25-09-05-12:04:57-d2t62qe1bb2p4onbqqd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970" y="3348990"/>
            <a:ext cx="1195070" cy="35293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39875" y="3811905"/>
            <a:ext cx="235839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模块化设计价值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512570" y="4481830"/>
            <a:ext cx="2951480" cy="11830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将系统拆分为独立模块，不仅便于分工协作，更有利于后期维护与功能扩展，深刻体会高内聚低耦合的设计哲学。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58105" y="3811905"/>
            <a:ext cx="235839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编码规范实践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48580" y="4481830"/>
            <a:ext cx="2951480" cy="9101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头文件与源文件分离、接口清晰定义、命名统一规范，显著提升代码可读性，为团队协作奠定基础。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823960" y="3811905"/>
            <a:ext cx="235839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安全意识萌芽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814435" y="4481830"/>
            <a:ext cx="2951480" cy="11830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数据备份机制的设计源于对数据安全重要性的认识，逐步养成防御性编程思维，关注边界条件与异常处理。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05" y="-22860"/>
            <a:ext cx="12195810" cy="688086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100000">
                <a:srgbClr val="000000"/>
              </a:gs>
            </a:gsLst>
            <a:lin ang="0" scaled="1"/>
          </a:gradFill>
        </p:spPr>
      </p:sp>
      <p:sp>
        <p:nvSpPr>
          <p:cNvPr id="3" name="Shape 1"/>
          <p:cNvSpPr/>
          <p:nvPr/>
        </p:nvSpPr>
        <p:spPr>
          <a:xfrm>
            <a:off x="-14605" y="-22225"/>
            <a:ext cx="12197080" cy="1624330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>
                <a:alpha val="23922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2630" y="1615440"/>
            <a:ext cx="7649845" cy="5241925"/>
          </a:xfrm>
          <a:prstGeom prst="rect">
            <a:avLst/>
          </a:prstGeom>
          <a:solidFill>
            <a:srgbClr val="FFFFFF"/>
          </a:solidFill>
          <a:ln w="19050">
            <a:solidFill>
              <a:srgbClr val="FFFFFF">
                <a:alpha val="23922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2450" y="394970"/>
            <a:ext cx="8476615" cy="6610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调试能力与问题解决提升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-14605" y="1386205"/>
            <a:ext cx="12207240" cy="217170"/>
          </a:xfrm>
          <a:prstGeom prst="rect">
            <a:avLst/>
          </a:prstGeom>
          <a:solidFill>
            <a:srgbClr val="000000"/>
          </a:solidFill>
        </p:spPr>
      </p:sp>
      <p:sp>
        <p:nvSpPr>
          <p:cNvPr id="7" name="Shape 5"/>
          <p:cNvSpPr/>
          <p:nvPr/>
        </p:nvSpPr>
        <p:spPr>
          <a:xfrm>
            <a:off x="11025505" y="1433830"/>
            <a:ext cx="98740" cy="98425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8" name="Shape 6"/>
          <p:cNvSpPr/>
          <p:nvPr/>
        </p:nvSpPr>
        <p:spPr>
          <a:xfrm>
            <a:off x="11184415" y="1433830"/>
            <a:ext cx="98740" cy="98425"/>
          </a:xfrm>
          <a:prstGeom prst="ellipse">
            <a:avLst/>
          </a:prstGeom>
          <a:solidFill>
            <a:srgbClr val="FFFFFF"/>
          </a:solidFill>
        </p:spPr>
      </p:sp>
      <p:sp>
        <p:nvSpPr>
          <p:cNvPr id="9" name="Shape 7"/>
          <p:cNvSpPr/>
          <p:nvPr/>
        </p:nvSpPr>
        <p:spPr>
          <a:xfrm>
            <a:off x="11343325" y="1433830"/>
            <a:ext cx="98740" cy="98425"/>
          </a:xfrm>
          <a:prstGeom prst="ellipse">
            <a:avLst/>
          </a:prstGeom>
          <a:solidFill>
            <a:srgbClr val="FFFFFF"/>
          </a:solidFill>
        </p:spPr>
      </p:sp>
      <p:pic>
        <p:nvPicPr>
          <p:cNvPr id="10" name="Image 0" descr="https://kimi-img.moonshot.cn/pub/slides/slides_tmpl/image/25-09-05-12:04:55-d2t62pu1bb2p4onbqpv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605" y="1602105"/>
            <a:ext cx="4547870" cy="5010785"/>
          </a:xfrm>
          <a:prstGeom prst="rect">
            <a:avLst/>
          </a:prstGeom>
        </p:spPr>
      </p:pic>
      <p:pic>
        <p:nvPicPr>
          <p:cNvPr id="11" name="Image 1" descr="https://kimi-img.moonshot.cn/pub/slides/slides_tmpl/image/25-09-05-12:04:54-d2t62pm1bb2p4onbqp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645" y="2529205"/>
            <a:ext cx="1426210" cy="351155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09-05-12:04:54-d2t62pm1bb2p4onbqp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0580" y="2529205"/>
            <a:ext cx="1463040" cy="35115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711825" y="2771775"/>
            <a:ext cx="2205355" cy="7023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典型问题攻克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5711825" y="3544570"/>
            <a:ext cx="2195195" cy="2451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多次遭遇段错误与内存泄漏，通过调试工具、日志输出与指针示意图辅助分析，逐步建立系统性调试方法论，提升问题定位效率。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9304020" y="2771775"/>
            <a:ext cx="2205355" cy="7023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调试心态转变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9304020" y="3544570"/>
            <a:ext cx="2195195" cy="2451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从最初面对错误的焦虑，转变为耐心分析、逐步排查的冷静态度，认识到调试是编程能力的重要组成部分。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2:04:57-d2t62qe1bb2p4onbqqcg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" y="0"/>
            <a:ext cx="410845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10800000">
            <a:off x="4109720" y="0"/>
            <a:ext cx="2802255" cy="6346825"/>
          </a:xfrm>
          <a:prstGeom prst="rect">
            <a:avLst/>
          </a:prstGeom>
          <a:gradFill flip="none" rotWithShape="1">
            <a:gsLst>
              <a:gs pos="0">
                <a:srgbClr val="171717">
                  <a:alpha val="0"/>
                </a:srgbClr>
              </a:gs>
              <a:gs pos="21000">
                <a:srgbClr val="171717">
                  <a:alpha val="0"/>
                </a:srgbClr>
              </a:gs>
              <a:gs pos="95000">
                <a:srgbClr val="1C1C1C">
                  <a:alpha val="46000"/>
                </a:srgbClr>
              </a:gs>
              <a:gs pos="100000">
                <a:srgbClr val="1C1C1C">
                  <a:alpha val="46000"/>
                </a:srgbClr>
              </a:gs>
            </a:gsLst>
            <a:lin ang="13200000" scaled="1"/>
          </a:gradFill>
        </p:spPr>
      </p:sp>
      <p:sp>
        <p:nvSpPr>
          <p:cNvPr id="4" name="Shape 1"/>
          <p:cNvSpPr/>
          <p:nvPr/>
        </p:nvSpPr>
        <p:spPr>
          <a:xfrm rot="10800000">
            <a:off x="9544050" y="-24130"/>
            <a:ext cx="2647315" cy="6370955"/>
          </a:xfrm>
          <a:prstGeom prst="rect">
            <a:avLst/>
          </a:prstGeom>
          <a:gradFill flip="none" rotWithShape="1">
            <a:gsLst>
              <a:gs pos="0">
                <a:srgbClr val="171717">
                  <a:alpha val="0"/>
                </a:srgbClr>
              </a:gs>
              <a:gs pos="21000">
                <a:srgbClr val="171717">
                  <a:alpha val="0"/>
                </a:srgbClr>
              </a:gs>
              <a:gs pos="95000">
                <a:srgbClr val="1C1C1C">
                  <a:alpha val="46000"/>
                </a:srgbClr>
              </a:gs>
              <a:gs pos="100000">
                <a:srgbClr val="1C1C1C">
                  <a:alpha val="46000"/>
                </a:srgbClr>
              </a:gs>
            </a:gsLst>
            <a:lin ang="13200000" scaled="1"/>
          </a:gradFill>
        </p:spPr>
      </p:sp>
      <p:sp>
        <p:nvSpPr>
          <p:cNvPr id="5" name="Shape 2"/>
          <p:cNvSpPr/>
          <p:nvPr/>
        </p:nvSpPr>
        <p:spPr>
          <a:xfrm>
            <a:off x="6911975" y="12700"/>
            <a:ext cx="2633980" cy="6334125"/>
          </a:xfrm>
          <a:prstGeom prst="rect">
            <a:avLst/>
          </a:prstGeom>
          <a:solidFill>
            <a:srgbClr val="1C1C1C"/>
          </a:solidFill>
        </p:spPr>
      </p:sp>
      <p:sp>
        <p:nvSpPr>
          <p:cNvPr id="6" name="Shape 3"/>
          <p:cNvSpPr/>
          <p:nvPr/>
        </p:nvSpPr>
        <p:spPr>
          <a:xfrm rot="5400000">
            <a:off x="6036945" y="-6035040"/>
            <a:ext cx="147955" cy="12231370"/>
          </a:xfrm>
          <a:prstGeom prst="rect">
            <a:avLst/>
          </a:prstGeom>
          <a:solidFill>
            <a:srgbClr val="1C1C1C"/>
          </a:solidFill>
        </p:spPr>
      </p:sp>
      <p:sp>
        <p:nvSpPr>
          <p:cNvPr id="7" name="Shape 4"/>
          <p:cNvSpPr/>
          <p:nvPr/>
        </p:nvSpPr>
        <p:spPr>
          <a:xfrm>
            <a:off x="4114800" y="37465"/>
            <a:ext cx="0" cy="6872605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8" name="Text 5"/>
          <p:cNvSpPr/>
          <p:nvPr/>
        </p:nvSpPr>
        <p:spPr>
          <a:xfrm>
            <a:off x="880745" y="739775"/>
            <a:ext cx="2941320" cy="89852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r">
              <a:lnSpc>
                <a:spcPct val="120000"/>
              </a:lnSpc>
            </a:pPr>
            <a:r>
              <a:rPr lang="en-US" sz="32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知识整合与综合能力收获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flipV="1">
            <a:off x="4113530" y="6336665"/>
            <a:ext cx="8112125" cy="3175"/>
          </a:xfrm>
          <a:prstGeom prst="line">
            <a:avLst/>
          </a:prstGeom>
          <a:noFill/>
          <a:ln w="19050">
            <a:solidFill>
              <a:srgbClr val="0D0D0D"/>
            </a:solidFill>
            <a:prstDash val="solid"/>
            <a:headEnd type="none"/>
            <a:tailEnd type="none"/>
          </a:ln>
        </p:spPr>
      </p:sp>
      <p:pic>
        <p:nvPicPr>
          <p:cNvPr id="10" name="Image 1" descr="https://kimi-img.moonshot.cn/pub/slides/slides_tmpl/image/25-09-05-12:04:57-d2t62qe1bb2p4onbqq8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240" y="506095"/>
            <a:ext cx="7430770" cy="1682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48810" y="2922270"/>
            <a:ext cx="234823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核心知识融合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483100" y="3616960"/>
            <a:ext cx="2200910" cy="145589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综合运用结构体、指针、链表、文件操作、函数封装等知识点，理解其协同工作机制，实现从理论到实践的跨越。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085330" y="2922270"/>
            <a:ext cx="234823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能力短板认知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119620" y="3616960"/>
            <a:ext cx="2200910" cy="11830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项目暴露搜索算法效率低、界面友好性不足等问题，明确后续学习方向，激发持续精进的动力。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9672955" y="2922270"/>
            <a:ext cx="2348230" cy="3714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20000"/>
              </a:lnSpc>
            </a:pPr>
            <a:r>
              <a:rPr lang="en-US" sz="1800" b="1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综合素养提升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707245" y="3616960"/>
            <a:ext cx="2200910" cy="145589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000000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本次设计不仅巩固了C语言技能，更培养了需求分析、架构设计与文档撰写能力，为后续专业发展奠定坚实基础。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9-05-12:04:59-d2t62qu1bb2p4onbqqk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9685" y="0"/>
            <a:ext cx="12275185" cy="68726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9755" y="3195320"/>
            <a:ext cx="5330825" cy="93091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感谢您的观看</a:t>
            </a:r>
            <a:endParaRPr lang="en-US" sz="1600" dirty="0"/>
          </a:p>
        </p:txBody>
      </p:sp>
      <p:pic>
        <p:nvPicPr>
          <p:cNvPr id="4" name="Image 1" descr="https://kimi-img.moonshot.cn/pub/slides/slides_tmpl/image/25-09-05-12:04:58-d2t62qm1bb2p4onbqq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55" y="304800"/>
            <a:ext cx="5005070" cy="263969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724265" y="5219065"/>
            <a:ext cx="4064000" cy="375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汇报人：Kimi AI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724265" y="5678170"/>
            <a:ext cx="4064000" cy="375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FFF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汇报时间：2025/08/05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2092</Words>
  <Application>WPS 演示</Application>
  <PresentationFormat>On-screen Show (16:9)</PresentationFormat>
  <Paragraphs>192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1" baseType="lpstr">
      <vt:lpstr>Arial</vt:lpstr>
      <vt:lpstr>宋体</vt:lpstr>
      <vt:lpstr>Wingdings</vt:lpstr>
      <vt:lpstr>MiSans</vt:lpstr>
      <vt:lpstr>MiSans</vt:lpstr>
      <vt:lpstr>Arial</vt:lpstr>
      <vt:lpstr>Arial</vt:lpstr>
      <vt:lpstr>Calibri</vt:lpstr>
      <vt:lpstr>微软雅黑</vt:lpstr>
      <vt:lpstr>Arial Unicode MS</vt:lpstr>
      <vt:lpstr>等线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工厂工具管理系统：从设计到实现</dc:title>
  <dc:creator>Kimi</dc:creator>
  <dc:subject>工厂工具管理系统：从设计到实现</dc:subject>
  <cp:lastModifiedBy>TAN90°</cp:lastModifiedBy>
  <cp:revision>2</cp:revision>
  <dcterms:created xsi:type="dcterms:W3CDTF">2026-06-18T15:49:00Z</dcterms:created>
  <dcterms:modified xsi:type="dcterms:W3CDTF">2026-06-23T04:34:20Z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工厂工具管理系统：从设计到实现","ContentProducer":"001191110108MACG2KBH8F10000","ProduceID":"19edb68e-8a02-8f1f-8000-0000a035671f","ReservedCode1":"","ContentPropagator":"001191110108MACG2KBH8F20000","PropagateID":"19edb68e-8a02-8f1f-8000-0000a035671f","ReservedCode2":""}</vt:lpwstr>
  </property>
  <property fmtid="{D5CDD505-2E9C-101B-9397-08002B2CF9AE}" pid="3" name="ICV">
    <vt:lpwstr>2432C95BCB3140599B7DF5E5189A6BA5_12</vt:lpwstr>
  </property>
  <property fmtid="{D5CDD505-2E9C-101B-9397-08002B2CF9AE}" pid="4" name="KSOProductBuildVer">
    <vt:lpwstr>2052-12.1.0.26895</vt:lpwstr>
  </property>
</Properties>
</file>