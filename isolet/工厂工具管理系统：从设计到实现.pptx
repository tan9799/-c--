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embeddedFontLst>
    <p:embeddedFont>
      <p:font typeface="Mi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4.png"/><Relationship Id="rId3" Type="http://schemas.openxmlformats.org/officeDocument/2006/relationships/image" Target="../media/image-2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工厂工具管理系统：从设计到实现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3710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3710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汇报时间：2025/08/05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j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60" y="4109720"/>
            <a:ext cx="6602095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35" y="4041775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9560" y="5172075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215" y="4055745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215" y="5172075"/>
            <a:ext cx="701040" cy="68262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3530600" y="419989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任务解析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3530600" y="531876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功能设计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7501255" y="4199890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难点与创新点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7501255" y="5318760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心得体会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任务解析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" y="0"/>
            <a:ext cx="12205335" cy="17843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8940"/>
            <a:ext cx="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403225" y="2181860"/>
            <a:ext cx="7212965" cy="451739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" name="Text 3"/>
          <p:cNvSpPr/>
          <p:nvPr/>
        </p:nvSpPr>
        <p:spPr>
          <a:xfrm>
            <a:off x="859155" y="963930"/>
            <a:ext cx="469836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项目背景与目标定位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7670" y="1819275"/>
            <a:ext cx="7206615" cy="370840"/>
          </a:xfrm>
          <a:prstGeom prst="rect">
            <a:avLst/>
          </a:prstGeom>
          <a:gradFill rotWithShape="1" flip="none">
            <a:gsLst>
              <a:gs pos="0">
                <a:srgbClr val="B3C4BE"/>
              </a:gs>
              <a:gs pos="100000">
                <a:srgbClr val="FFFFFF"/>
              </a:gs>
            </a:gsLst>
            <a:lin ang="3600000" scaled="1"/>
          </a:gradFill>
          <a:ln/>
        </p:spPr>
      </p:sp>
      <p:sp>
        <p:nvSpPr>
          <p:cNvPr id="7" name="Shape 5"/>
          <p:cNvSpPr/>
          <p:nvPr/>
        </p:nvSpPr>
        <p:spPr>
          <a:xfrm flipV="1">
            <a:off x="-5715" y="748030"/>
            <a:ext cx="7619365" cy="381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03225" y="759460"/>
            <a:ext cx="0" cy="611251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406400" y="6701155"/>
            <a:ext cx="7207250" cy="317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16190" y="752475"/>
            <a:ext cx="0" cy="611949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1" name="Image 0" descr="https://kimi-img.moonshot.cn/pub/slides/slides_tmpl/image/25-09-05-12:04:56-d2t62q61bb2p4onbqq30.png">    </p:cNvPr>
          <p:cNvPicPr>
            <a:picLocks noChangeAspect="1"/>
          </p:cNvPicPr>
          <p:nvPr/>
        </p:nvPicPr>
        <p:blipFill>
          <a:blip r:embed="rId1"/>
          <a:srcRect l="0" r="0" t="0" b="14569"/>
          <a:stretch/>
        </p:blipFill>
        <p:spPr>
          <a:xfrm>
            <a:off x="7607300" y="740410"/>
            <a:ext cx="4584065" cy="4676775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2647950"/>
            <a:ext cx="555625" cy="54102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658360"/>
            <a:ext cx="555625" cy="5410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465" y="266954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传统管理痛点分析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16990" y="3259455"/>
            <a:ext cx="576770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工厂工具管理长期依赖人工纸质登记，存在查询效率低、库存数据滞后、借还记录易丢失等问题，难以满足现代化生产管理需求。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07465" y="467106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系统建设核心目标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07465" y="5255895"/>
            <a:ext cx="576770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运用C语言开发控制台工具管理系统，实现工具信息数字化、借还流程规范化、库存统计自动化，提升管理效率并降低人工错误率。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" y="-23495"/>
            <a:ext cx="12195810" cy="688086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https://kimi-img.moonshot.cn/pub/slides/slides_tmpl/image/25-09-05-12:04:57-d2t62qe1bb2p4onbqq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192000" cy="68846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5715" y="-13970"/>
            <a:ext cx="8060055" cy="20707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0280" y="749300"/>
            <a:ext cx="649097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需求分析与功能边界界定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5-12:04:57-d2t62qe1bb2p4onbqqa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695" y="-43180"/>
            <a:ext cx="4218305" cy="212788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5-12:04:57-d2t62qe1bb2p4onbqq9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190" y="2460625"/>
            <a:ext cx="2109470" cy="145669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2:04:57-d2t62qe1bb2p4onbqq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190" y="2460625"/>
            <a:ext cx="2109470" cy="145669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2:04:57-d2t62qe1bb2p4onbqqb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495" y="2460625"/>
            <a:ext cx="2109470" cy="145669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970280" y="4196080"/>
            <a:ext cx="2807970" cy="0"/>
          </a:xfrm>
          <a:prstGeom prst="line">
            <a:avLst/>
          </a:prstGeom>
          <a:noFill/>
          <a:ln w="3175">
            <a:gradFill rotWithShape="1" flip="none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4674235" y="4196080"/>
            <a:ext cx="2923540" cy="0"/>
          </a:xfrm>
          <a:prstGeom prst="line">
            <a:avLst/>
          </a:prstGeom>
          <a:noFill/>
          <a:ln w="3175">
            <a:gradFill rotWithShape="1" flip="none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8276590" y="4196080"/>
            <a:ext cx="2912110" cy="0"/>
          </a:xfrm>
          <a:prstGeom prst="line">
            <a:avLst/>
          </a:prstGeom>
          <a:noFill/>
          <a:ln w="3175">
            <a:gradFill rotWithShape="1" flip="none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sp>
        <p:nvSpPr>
          <p:cNvPr id="13" name="Text 6"/>
          <p:cNvSpPr/>
          <p:nvPr/>
        </p:nvSpPr>
        <p:spPr>
          <a:xfrm>
            <a:off x="971550" y="3401695"/>
            <a:ext cx="280670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功能需求拆解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876300" y="4321175"/>
            <a:ext cx="301117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涵盖工具信息增删改查、借还登记与归还处理、用户分级权限管理、库存统计与预警、数据备份恢复五大核心模块。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4654550" y="3401695"/>
            <a:ext cx="280670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非功能需求说明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549775" y="4321175"/>
            <a:ext cx="301117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系统需保证数据一致性、操作稳定性及输入友好性，支持文件持久化存储，确保异常退出后数据不丢失。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283575" y="3401695"/>
            <a:ext cx="280670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功能边界界定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188325" y="4321175"/>
            <a:ext cx="301117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本系统为单机控制台应用，不包含图形界面、网络通信及多线程并发功能，聚焦于核心业务流程的完整实现。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4370" y="0"/>
            <a:ext cx="3897630" cy="13239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" y="-18415"/>
            <a:ext cx="8302625" cy="6877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8650" y="258445"/>
            <a:ext cx="4588510" cy="706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系统整体架构与模块划分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9525" y="1984375"/>
            <a:ext cx="1012190" cy="2444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7256780" y="1984375"/>
            <a:ext cx="1037590" cy="2444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256780" y="4408805"/>
            <a:ext cx="1037590" cy="2444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-9525" y="4441190"/>
            <a:ext cx="1012190" cy="2444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3981450" y="4002405"/>
            <a:ext cx="259715" cy="259715"/>
          </a:xfrm>
          <a:prstGeom prst="mathPlus">
            <a:avLst>
              <a:gd name="adj1" fmla="val 0"/>
            </a:avLst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27230" y="-23495"/>
            <a:ext cx="76200" cy="6881495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95000">
                <a:srgbClr val="262626"/>
              </a:gs>
              <a:gs pos="100000">
                <a:srgbClr val="262626"/>
              </a:gs>
            </a:gsLst>
            <a:lin ang="16800000" scaled="1"/>
          </a:gradFill>
          <a:ln/>
        </p:spPr>
      </p:sp>
      <p:sp>
        <p:nvSpPr>
          <p:cNvPr id="11" name="Shape 9"/>
          <p:cNvSpPr/>
          <p:nvPr/>
        </p:nvSpPr>
        <p:spPr>
          <a:xfrm rot="5400000">
            <a:off x="4109085" y="-2861945"/>
            <a:ext cx="76200" cy="8294370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95000">
                <a:srgbClr val="262626"/>
              </a:gs>
              <a:gs pos="100000">
                <a:srgbClr val="262626"/>
              </a:gs>
            </a:gsLst>
            <a:lin ang="16800000" scaled="1"/>
          </a:gradFill>
          <a:ln/>
        </p:spPr>
      </p:sp>
      <p:sp>
        <p:nvSpPr>
          <p:cNvPr id="12" name="Shape 10"/>
          <p:cNvSpPr/>
          <p:nvPr/>
        </p:nvSpPr>
        <p:spPr>
          <a:xfrm rot="5400000">
            <a:off x="6063615" y="738505"/>
            <a:ext cx="76200" cy="12174855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95000">
                <a:srgbClr val="262626"/>
              </a:gs>
              <a:gs pos="100000">
                <a:srgbClr val="262626"/>
              </a:gs>
            </a:gsLst>
            <a:lin ang="16800000" scaled="1"/>
          </a:gradFill>
          <a:ln/>
        </p:spPr>
      </p:sp>
      <p:pic>
        <p:nvPicPr>
          <p:cNvPr id="13" name="Image 0" descr="https://kimi-img.moonshot.cn/pub/slides/slides_tmpl/image/25-09-05-12:04:58-d2t62qm1bb2p4onbqqj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3925" y="1514475"/>
            <a:ext cx="3334385" cy="50838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98930" y="1818640"/>
            <a:ext cx="2342515" cy="571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六大核心模块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605" y="2360930"/>
            <a:ext cx="3331845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系统划分为工具管理、借还管理、用户认证、数据统计、文件操作、工具函数六大模块，职责清晰。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27855" y="1818640"/>
            <a:ext cx="2342515" cy="571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模块耦合设计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30395" y="2360930"/>
            <a:ext cx="3331845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各模块通过头文件声明接口，源文件实现细节，实现高内聚低耦合，便于独立开发与后期维护扩展。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98930" y="4275455"/>
            <a:ext cx="2342515" cy="571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数据流向说明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605" y="4799330"/>
            <a:ext cx="3331845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用户操作经认证模块验证后，调用业务模块处理数据，最终通过文件模块持久化，流程闭环可控。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27855" y="4243070"/>
            <a:ext cx="2342515" cy="571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代码复用策略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30395" y="4766310"/>
            <a:ext cx="3331845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通用输入验证、日期处理、清屏暂停等功能封装至工具函数模块，减少重复代码，提升可维护性。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9525" y="2712085"/>
            <a:ext cx="12195810" cy="4145915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6325870" y="0"/>
            <a:ext cx="5860415" cy="4145915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4" name="Image 0" descr="https://kimi-img.moonshot.cn/pub/slides/slides_tmpl/image/25-09-05-12:04:56-d2t62q61bb2p4onbqq3g.png">    </p:cNvPr>
          <p:cNvPicPr>
            <a:picLocks noChangeAspect="1"/>
          </p:cNvPicPr>
          <p:nvPr/>
        </p:nvPicPr>
        <p:blipFill>
          <a:blip r:embed="rId1"/>
          <a:srcRect l="45304" r="0" t="22102" b="0"/>
          <a:stretch/>
        </p:blipFill>
        <p:spPr>
          <a:xfrm>
            <a:off x="4685665" y="1243965"/>
            <a:ext cx="4947920" cy="31153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10800000">
            <a:off x="3251835" y="5427345"/>
            <a:ext cx="8940165" cy="7454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6505" y="5440045"/>
            <a:ext cx="5051425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数据结构设计核心思路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2:04:56-d2t62q61bb2p4onbqq3g.png">    </p:cNvPr>
          <p:cNvPicPr>
            <a:picLocks noChangeAspect="1"/>
          </p:cNvPicPr>
          <p:nvPr/>
        </p:nvPicPr>
        <p:blipFill>
          <a:blip r:embed="rId2"/>
          <a:srcRect l="27088" r="55988" t="67243" b="5335"/>
          <a:stretch/>
        </p:blipFill>
        <p:spPr>
          <a:xfrm>
            <a:off x="3037840" y="3049270"/>
            <a:ext cx="1530985" cy="1096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7375" y="3049270"/>
            <a:ext cx="2205355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链表选型依据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7375" y="3898900"/>
            <a:ext cx="2195195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采用单向链表而非数组，支持运行时动态增删节点，无需预先分配固定空间，完美适配工具数量变化频繁的业务场景。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54795" y="1243965"/>
            <a:ext cx="2205355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三大结构体定义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54795" y="2093595"/>
            <a:ext cx="2195195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Tool结构体管理工具属性与历史记录，BorrowRecord结构体跟踪借还全流程，User结构体维护账户与角色信息，三者通过指针关联形成完整数据网络。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7-d2t62qe1bb2p4onbqq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1548765"/>
            <a:ext cx="4718050" cy="53155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62865"/>
            <a:ext cx="4717415" cy="148399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30185" y="869950"/>
            <a:ext cx="22479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863205" y="2713355"/>
            <a:ext cx="22402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7839710" y="4596130"/>
            <a:ext cx="22529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273050" y="471170"/>
            <a:ext cx="4300220" cy="1287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核心功能流程与交互逻辑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11065" y="46355"/>
            <a:ext cx="0" cy="683133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rot="5400000">
            <a:off x="6036945" y="-6035675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Shape 7"/>
          <p:cNvSpPr/>
          <p:nvPr/>
        </p:nvSpPr>
        <p:spPr>
          <a:xfrm>
            <a:off x="4717415" y="6331585"/>
            <a:ext cx="7508875" cy="532765"/>
          </a:xfrm>
          <a:prstGeom prst="rect">
            <a:avLst/>
          </a:prstGeom>
          <a:solidFill>
            <a:srgbClr val="101010"/>
          </a:solidFill>
          <a:ln/>
        </p:spPr>
      </p:sp>
      <p:pic>
        <p:nvPicPr>
          <p:cNvPr id="11" name="Image 1" descr="https://kimi-img.moonshot.cn/pub/slides/slides_tmpl/image/25-09-05-12:04:56-d2t62q61bb2p4onbqq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755" y="504190"/>
            <a:ext cx="1164590" cy="73152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2:04:56-d2t62q61bb2p4onbqq7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755" y="2350770"/>
            <a:ext cx="1164590" cy="73152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5-12:04:56-d2t62q61bb2p4onbqq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755" y="4217670"/>
            <a:ext cx="1164590" cy="731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67350" y="6705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工具查询多样化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81955" y="1177290"/>
            <a:ext cx="595249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支持按编号精确查询、按名称模糊匹配、按类型筛选三种方式，满足不同场景下的信息检索需求。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481955" y="24993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借还业务闭环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443220" y="3003550"/>
            <a:ext cx="595249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借阅时校验库存与日期有效性，生成记录并扣减库存；归还时支持双模式定位记录，自动计算逾期罚款并恢复库存。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481955" y="437388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分级权限控制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1955" y="4875530"/>
            <a:ext cx="595249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管理员拥有增删改、用户管理、备份恢复等全部权限，普通用户仅限查询与借还操作，敏感功能严格拦截。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860" y="1491615"/>
            <a:ext cx="5301615" cy="21056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Text 1"/>
          <p:cNvSpPr/>
          <p:nvPr/>
        </p:nvSpPr>
        <p:spPr>
          <a:xfrm>
            <a:off x="3570605" y="497205"/>
            <a:ext cx="5051425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文件存储与数据持久化方案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4540" cy="28257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" name="Shape 3"/>
          <p:cNvSpPr/>
          <p:nvPr/>
        </p:nvSpPr>
        <p:spPr>
          <a:xfrm>
            <a:off x="6083935" y="1491615"/>
            <a:ext cx="2540" cy="5952490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79780" y="1491615"/>
            <a:ext cx="10601960" cy="571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9780" y="1403985"/>
            <a:ext cx="10601960" cy="571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7978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38174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0" y="6173470"/>
            <a:ext cx="788035" cy="69088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2375" y="6173470"/>
            <a:ext cx="824230" cy="690880"/>
          </a:xfrm>
          <a:prstGeom prst="rect">
            <a:avLst/>
          </a:prstGeom>
          <a:solidFill>
            <a:srgbClr val="101010"/>
          </a:solidFill>
          <a:ln/>
        </p:spPr>
      </p:sp>
      <p:pic>
        <p:nvPicPr>
          <p:cNvPr id="12" name="Image 0" descr="https://kimi-img.moonshot.cn/pub/slides/slides_tmpl/image/25-09-05-12:04:56-d2t62q61bb2p4onbqq40.png">    </p:cNvPr>
          <p:cNvPicPr>
            <a:picLocks noChangeAspect="1"/>
          </p:cNvPicPr>
          <p:nvPr/>
        </p:nvPicPr>
        <p:blipFill>
          <a:blip r:embed="rId1"/>
          <a:srcRect l="0" r="0" t="0" b="20569"/>
          <a:stretch/>
        </p:blipFill>
        <p:spPr>
          <a:xfrm>
            <a:off x="779780" y="3597275"/>
            <a:ext cx="10625455" cy="265811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09-05-12:04:55-d2t62pu1bb2p4onbqq1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1607185"/>
            <a:ext cx="701040" cy="64008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5-12:04:56-d2t62q61bb2p4onbqq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90" y="1607185"/>
            <a:ext cx="701040" cy="6400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6290" y="6179820"/>
            <a:ext cx="10586720" cy="370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106553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二进制文件组织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67435" y="2228215"/>
            <a:ext cx="4662170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采用二进制格式存储四类数据：tools.dat存工具信息、records.dat存借还记录、users.dat存用户数据、next_id.dat存自增编号，读写高效且空间紧凑。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3890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安全写入与备份策略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40805" y="2228215"/>
            <a:ext cx="4662170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通过临时文件写入后原子重命名，防止写入中断导致数据损坏；提供一键备份与恢复功能，支持数据快速回滚，保障数据安全。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难点与创新点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890760" y="4552315"/>
            <a:ext cx="1200785" cy="341947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" name="Text 1"/>
          <p:cNvSpPr/>
          <p:nvPr/>
        </p:nvSpPr>
        <p:spPr>
          <a:xfrm>
            <a:off x="782320" y="269240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动态内存管理与链表操作难点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-1124585" y="3178175"/>
            <a:ext cx="4485005" cy="47180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56580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0" y="1171575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rot="5400000">
            <a:off x="-1801495" y="2971165"/>
            <a:ext cx="4485005" cy="882015"/>
          </a:xfrm>
          <a:prstGeom prst="rect">
            <a:avLst/>
          </a:prstGeom>
          <a:solidFill>
            <a:srgbClr val="C0C0C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9031605" y="-2004695"/>
            <a:ext cx="219710" cy="612013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9" name="Shape 7"/>
          <p:cNvSpPr/>
          <p:nvPr/>
        </p:nvSpPr>
        <p:spPr>
          <a:xfrm>
            <a:off x="4008120" y="1165225"/>
            <a:ext cx="4771390" cy="22142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820" y="3373120"/>
            <a:ext cx="4733290" cy="22828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7824470" y="2113915"/>
            <a:ext cx="4488180" cy="2596515"/>
          </a:xfrm>
          <a:prstGeom prst="rect">
            <a:avLst/>
          </a:prstGeom>
          <a:gradFill rotWithShape="1" flip="none">
            <a:gsLst>
              <a:gs pos="0">
                <a:srgbClr val="262626"/>
              </a:gs>
              <a:gs pos="20000">
                <a:srgbClr val="262626"/>
              </a:gs>
              <a:gs pos="100000">
                <a:srgbClr val="000000"/>
              </a:gs>
            </a:gsLst>
            <a:lin ang="7800000" scaled="1"/>
          </a:gradFill>
          <a:ln/>
        </p:spPr>
      </p:sp>
      <p:sp>
        <p:nvSpPr>
          <p:cNvPr id="12" name="Shape 10"/>
          <p:cNvSpPr/>
          <p:nvPr/>
        </p:nvSpPr>
        <p:spPr>
          <a:xfrm rot="5400000">
            <a:off x="1604645" y="927735"/>
            <a:ext cx="2200910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6293485" y="3166745"/>
            <a:ext cx="2275205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4" name="Image 0" descr="https://kimi-img.moonshot.cn/pub/slides/slides_tmpl/image/25-09-05-12:04:57-d2t62qe1bb2p4onbqqf0.png">    </p:cNvPr>
          <p:cNvPicPr>
            <a:picLocks noChangeAspect="1"/>
          </p:cNvPicPr>
          <p:nvPr/>
        </p:nvPicPr>
        <p:blipFill>
          <a:blip r:embed="rId1"/>
          <a:srcRect l="0" r="76255" t="0" b="59200"/>
          <a:stretch/>
        </p:blipFill>
        <p:spPr>
          <a:xfrm>
            <a:off x="1537970" y="1337945"/>
            <a:ext cx="2475230" cy="203454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09-05-12:04:57-d2t62qe1bb2p4onbqqf0.png">    </p:cNvPr>
          <p:cNvPicPr>
            <a:picLocks noChangeAspect="1"/>
          </p:cNvPicPr>
          <p:nvPr/>
        </p:nvPicPr>
        <p:blipFill>
          <a:blip r:embed="rId2"/>
          <a:srcRect l="44682" r="31573" t="43130" b="16070"/>
          <a:stretch/>
        </p:blipFill>
        <p:spPr>
          <a:xfrm>
            <a:off x="6191250" y="3580130"/>
            <a:ext cx="2475230" cy="20345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7040" y="13379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指针操作复杂性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271645" y="1781175"/>
            <a:ext cx="424878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链表插入删除需精确维护指针指向，头节点处理、空链表判断、尾节点定位等边界场景极易出错。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77340" y="36747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内存泄漏防控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591945" y="4117975"/>
            <a:ext cx="424815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每次malloc必须对应free，系统退出时需遍历释放三条链表全部节点，防止内存泄漏导致资源耗尽。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191625" y="1428115"/>
            <a:ext cx="1753870" cy="318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排序算法实现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191625" y="2273935"/>
            <a:ext cx="1753870" cy="1455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借还记录排序采用冒泡排序交换指针而非数据，避免大结构体拷贝开销，提升排序效率。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0160" y="-21590"/>
            <a:ext cx="12201525" cy="4819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734435" y="459740"/>
            <a:ext cx="4574540" cy="58248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63050" y="2495550"/>
            <a:ext cx="1880870" cy="0"/>
          </a:xfrm>
          <a:prstGeom prst="line">
            <a:avLst/>
          </a:prstGeom>
          <a:noFill/>
          <a:ln w="3175">
            <a:gradFill rotWithShape="1" flip="none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847725" y="2495550"/>
            <a:ext cx="1920875" cy="8890"/>
          </a:xfrm>
          <a:prstGeom prst="line">
            <a:avLst/>
          </a:prstGeom>
          <a:noFill/>
          <a:ln w="3175">
            <a:gradFill rotWithShape="1" flip="none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4490085" y="1544320"/>
            <a:ext cx="3004820" cy="1346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数据一致性与异常处理机制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4-d2t62pm1bb2p4onbqpt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218565"/>
            <a:ext cx="585470" cy="39624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5-d2t62pu1bb2p4onbqp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855" y="1218565"/>
            <a:ext cx="585470" cy="39624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6-d2t62q61bb2p4onbqq20.png">    </p:cNvPr>
          <p:cNvPicPr>
            <a:picLocks noChangeAspect="1"/>
          </p:cNvPicPr>
          <p:nvPr/>
        </p:nvPicPr>
        <p:blipFill>
          <a:blip r:embed="rId3"/>
          <a:srcRect l="0" r="0" t="5611" b="0"/>
          <a:stretch/>
        </p:blipFill>
        <p:spPr>
          <a:xfrm>
            <a:off x="3736340" y="459740"/>
            <a:ext cx="4578350" cy="63982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3920" y="1615440"/>
            <a:ext cx="184404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输入合法性校验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51865" y="2839720"/>
            <a:ext cx="1782445" cy="22746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系统对整数范围、浮点数下限、日期格式及闰年有效性进行多层验证，拒绝非法输入进入业务逻辑，从源头防止数据污染与程序崩溃。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50680" y="1615440"/>
            <a:ext cx="184404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事务性操作保障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323705" y="2839720"/>
            <a:ext cx="1773555" cy="22746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借还操作同步更新工具库存、借用次数及历史记录三个字段，任一环节失败均不提交；文件写入采用先临时后替换策略，确保数据持久化原子性。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2190095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rot="10800000">
            <a:off x="11835130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10800000">
            <a:off x="6431915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10800000">
            <a:off x="5759450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rot="10800000">
            <a:off x="353695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rot="10800000">
            <a:off x="0" y="1514475"/>
            <a:ext cx="0" cy="5351145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353060" y="2345055"/>
            <a:ext cx="11494770" cy="0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0D0D0D"/>
                </a:gs>
                <a:gs pos="49000">
                  <a:srgbClr val="404040"/>
                </a:gs>
                <a:gs pos="100000">
                  <a:srgbClr val="0D0D0D"/>
                </a:gs>
              </a:gsLst>
              <a:lin ang="5160000" scaled="1"/>
            </a:gra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H="1">
            <a:off x="353060" y="6350000"/>
            <a:ext cx="11480800" cy="0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0D0D0D"/>
                </a:gs>
                <a:gs pos="49000">
                  <a:srgbClr val="404040"/>
                </a:gs>
                <a:gs pos="100000">
                  <a:srgbClr val="0D0D0D"/>
                </a:gs>
              </a:gsLst>
              <a:lin ang="5160000" scaled="1"/>
            </a:gra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-5080" y="6584315"/>
            <a:ext cx="12207240" cy="28130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>
                <a:alpha val="23922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4605" y="-35560"/>
            <a:ext cx="12207240" cy="217551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>
                <a:alpha val="23922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025" y="962660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功能创新与设计亮点总结</a:t>
            </a:r>
            <a:endParaRPr lang="en-US" sz="1600" dirty="0"/>
          </a:p>
        </p:txBody>
      </p:sp>
      <p:pic>
        <p:nvPicPr>
          <p:cNvPr id="13" name="Image 0" descr="https://kimi-img.moonshot.cn/pub/slides/slides_tmpl/image/25-09-05-12:04:57-d2t62qe1bb2p4onbqqg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915" y="-42545"/>
            <a:ext cx="5772785" cy="218249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1025" y="2506980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权限分级机制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0550" y="2966720"/>
            <a:ext cx="493204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首创管理员与普通用户双角色体系，敏感操作严格鉴权，提升系统安全性与实用性。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1025" y="4507230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可视化统计输出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966970"/>
            <a:ext cx="493204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借用排行功能输出ASCII柱状图，直观展示工具使用频率，增强数据可读性。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57975" y="2506980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分页浏览设计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67500" y="2966720"/>
            <a:ext cx="493204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借还记录支持每页10条分页显示，N/P键翻页，解决大数据量下的信息过载问题。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57975" y="4507230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智能逾期管理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67500" y="4966970"/>
            <a:ext cx="493204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系统自动检测逾期记录并按日计算罚款，贴近真实业务场景，提升管理精细化水平。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心得体会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80860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81025" y="1011555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工程化思维与代码规范养成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195830"/>
            <a:ext cx="122129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0" y="2757805"/>
            <a:ext cx="121875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35075" y="3355340"/>
            <a:ext cx="3540125" cy="3529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829175" y="3355340"/>
            <a:ext cx="3579495" cy="352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476615" y="3354705"/>
            <a:ext cx="3715385" cy="3536315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4540" cy="5854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4206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60081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60200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3" name="Image 0" descr="https://kimi-img.moonshot.cn/pub/slides/slides_tmpl/image/25-09-05-12:04:57-d2t62qe1bb2p4onbqqd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970" y="3348990"/>
            <a:ext cx="1195070" cy="35293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9875" y="381190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模块化设计价值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12570" y="4481830"/>
            <a:ext cx="295148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将系统拆分为独立模块，不仅便于分工协作，更有利于后期维护与功能扩展，深刻体会高内聚低耦合的设计哲学。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58105" y="381190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编码规范实践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48580" y="4481830"/>
            <a:ext cx="2951480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头文件与源文件分离、接口清晰定义、命名统一规范，显著提升代码可读性，为团队协作奠定基础。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23960" y="381190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安全意识萌芽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14435" y="4481830"/>
            <a:ext cx="295148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数据备份机制的设计源于对数据安全重要性的认识，逐步养成防御性编程思维，关注边界条件与异常处理。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05" y="-2286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4605" y="-22225"/>
            <a:ext cx="12197080" cy="162433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>
                <a:alpha val="2392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32630" y="1615440"/>
            <a:ext cx="7649845" cy="5241925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>
                <a:alpha val="23922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394970"/>
            <a:ext cx="8476615" cy="661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调试能力与问题解决提升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-14605" y="1386205"/>
            <a:ext cx="12207240" cy="217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025505" y="1433830"/>
            <a:ext cx="98740" cy="984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4415" y="1433830"/>
            <a:ext cx="98740" cy="984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343325" y="1433830"/>
            <a:ext cx="98740" cy="984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https://kimi-img.moonshot.cn/pub/slides/slides_tmpl/image/25-09-05-12:04:55-d2t62pu1bb2p4onbqp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605" y="1602105"/>
            <a:ext cx="4547870" cy="5010785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5-12:04:54-d2t62pm1bb2p4onbqp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45" y="2529205"/>
            <a:ext cx="1426210" cy="351155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2:04:54-d2t62pm1bb2p4onbqpt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580" y="2529205"/>
            <a:ext cx="1463040" cy="3511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11825" y="2771775"/>
            <a:ext cx="2205355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典型问题攻克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711825" y="3544570"/>
            <a:ext cx="2195195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多次遭遇段错误与内存泄漏，通过调试工具、日志输出与指针示意图辅助分析，逐步建立系统性调试方法论，提升问题定位效率。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304020" y="2771775"/>
            <a:ext cx="2205355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调试心态转变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304020" y="3544570"/>
            <a:ext cx="2195195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从最初面对错误的焦虑，转变为耐心分析、逐步排查的冷静态度，认识到调试是编程能力的重要组成部分。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7-d2t62qe1bb2p4onbqqc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0"/>
            <a:ext cx="410845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4109720" y="0"/>
            <a:ext cx="2802255" cy="6346825"/>
          </a:xfrm>
          <a:prstGeom prst="rect">
            <a:avLst/>
          </a:prstGeom>
          <a:gradFill rotWithShape="1" flip="none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</p:sp>
      <p:sp>
        <p:nvSpPr>
          <p:cNvPr id="4" name="Shape 1"/>
          <p:cNvSpPr/>
          <p:nvPr/>
        </p:nvSpPr>
        <p:spPr>
          <a:xfrm rot="10800000">
            <a:off x="9544050" y="-24130"/>
            <a:ext cx="2647315" cy="6370955"/>
          </a:xfrm>
          <a:prstGeom prst="rect">
            <a:avLst/>
          </a:prstGeom>
          <a:gradFill rotWithShape="1" flip="none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6911975" y="12700"/>
            <a:ext cx="2633980" cy="63341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Shape 3"/>
          <p:cNvSpPr/>
          <p:nvPr/>
        </p:nvSpPr>
        <p:spPr>
          <a:xfrm rot="5400000">
            <a:off x="6036945" y="-6035040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0" y="37465"/>
            <a:ext cx="0" cy="68726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880745" y="739775"/>
            <a:ext cx="294132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2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知识整合与综合能力收获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4113530" y="6336665"/>
            <a:ext cx="8112125" cy="317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2:04:57-d2t62qe1bb2p4onbqq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240" y="506095"/>
            <a:ext cx="7430770" cy="1682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8810" y="292227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核心知识融合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83100" y="3616960"/>
            <a:ext cx="2200910" cy="1455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综合运用结构体、指针、链表、文件操作、函数封装等知识点，理解其协同工作机制，实现从理论到实践的跨越。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85330" y="292227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能力短板认知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19620" y="3616960"/>
            <a:ext cx="2200910" cy="1183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项目暴露搜索算法效率低、界面友好性不足等问题，明确后续学习方向，激发持续精进的动力。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672955" y="292227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综合素养提升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707245" y="3616960"/>
            <a:ext cx="2200910" cy="1455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本次设计不仅巩固了C语言技能，更培养了需求分析、架构设计与文档撰写能力，为后续专业发展奠定坚实基础。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3759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3759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汇报时间：2025/08/05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工厂工具管理系统：从设计到实现</dc:title>
  <dc:subject>工厂工具管理系统：从设计到实现</dc:subject>
  <dc:creator>Kimi</dc:creator>
  <cp:lastModifiedBy>Kimi</cp:lastModifiedBy>
  <cp:revision>1</cp:revision>
  <dcterms:created xsi:type="dcterms:W3CDTF">2026-06-18T15:49:46Z</dcterms:created>
  <dcterms:modified xsi:type="dcterms:W3CDTF">2026-06-18T15:49:46Z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工厂工具管理系统：从设计到实现","ContentProducer":"001191110108MACG2KBH8F10000","ProduceID":"19edb68e-8a02-8f1f-8000-0000a035671f","ReservedCode1":"","ContentPropagator":"001191110108MACG2KBH8F20000","PropagateID":"19edb68e-8a02-8f1f-8000-0000a035671f","ReservedCode2":""}</vt:lpwstr>
  </property>
</Properties>
</file>